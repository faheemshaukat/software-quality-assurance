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6"/>
  </p:notesMasterIdLst>
  <p:handoutMasterIdLst>
    <p:handoutMasterId r:id="rId27"/>
  </p:handoutMasterIdLst>
  <p:sldIdLst>
    <p:sldId id="401" r:id="rId2"/>
    <p:sldId id="381" r:id="rId3"/>
    <p:sldId id="402" r:id="rId4"/>
    <p:sldId id="354" r:id="rId5"/>
    <p:sldId id="307" r:id="rId6"/>
    <p:sldId id="382" r:id="rId7"/>
    <p:sldId id="383" r:id="rId8"/>
    <p:sldId id="393" r:id="rId9"/>
    <p:sldId id="394" r:id="rId10"/>
    <p:sldId id="395" r:id="rId11"/>
    <p:sldId id="396" r:id="rId12"/>
    <p:sldId id="397" r:id="rId13"/>
    <p:sldId id="398" r:id="rId14"/>
    <p:sldId id="404" r:id="rId15"/>
    <p:sldId id="403" r:id="rId16"/>
    <p:sldId id="409" r:id="rId17"/>
    <p:sldId id="407" r:id="rId18"/>
    <p:sldId id="408" r:id="rId19"/>
    <p:sldId id="410" r:id="rId20"/>
    <p:sldId id="411" r:id="rId21"/>
    <p:sldId id="412" r:id="rId22"/>
    <p:sldId id="362" r:id="rId23"/>
    <p:sldId id="406" r:id="rId24"/>
    <p:sldId id="40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87" autoAdjust="0"/>
    <p:restoredTop sz="94660"/>
  </p:normalViewPr>
  <p:slideViewPr>
    <p:cSldViewPr>
      <p:cViewPr varScale="1">
        <p:scale>
          <a:sx n="62" d="100"/>
          <a:sy n="62" d="100"/>
        </p:scale>
        <p:origin x="147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048301-4244-475B-81AD-D3794D97E19A}" type="datetimeFigureOut">
              <a:rPr lang="en-US" smtClean="0"/>
              <a:pPr/>
              <a:t>12-May-26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C5F915-F107-452D-A0C1-C7E04A07F9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81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D61F8-6773-4774-A307-297DE3E3095B}" type="datetimeFigureOut">
              <a:rPr lang="en-US" smtClean="0"/>
              <a:pPr/>
              <a:t>12-May-26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A7C8D-F4F2-462A-ACE3-16B112B28C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37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0F96FBF-3DC0-42AD-8542-F1325EA5C1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198AB-EA9A-4188-8F7D-C65D0CACF5EC}" type="datetime1">
              <a:rPr lang="en-US" smtClean="0"/>
              <a:pPr/>
              <a:t>12-May-26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33EC-022B-4701-8E7F-D833790E5887}" type="datetime1">
              <a:rPr lang="en-US" smtClean="0"/>
              <a:pPr/>
              <a:t>12-May-26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5412-4151-444E-A0B9-E78A7D1EBAB7}" type="datetime1">
              <a:rPr lang="en-US" smtClean="0"/>
              <a:pPr/>
              <a:t>12-May-26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5129D-1FC4-4A9B-A58F-C6A595B148ED}" type="datetime1">
              <a:rPr lang="en-US" smtClean="0"/>
              <a:pPr/>
              <a:t>12-May-26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77B7-FE50-45D8-A13C-62400BD19312}" type="datetime1">
              <a:rPr lang="en-US" smtClean="0"/>
              <a:pPr/>
              <a:t>12-May-26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11F0-4E9B-48A8-BB04-0AA369B05D04}" type="datetime1">
              <a:rPr lang="en-US" smtClean="0"/>
              <a:pPr/>
              <a:t>12-May-26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7814-8ECD-45F8-8C3B-E985401F9709}" type="datetime1">
              <a:rPr lang="en-US" smtClean="0"/>
              <a:pPr/>
              <a:t>12-May-26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0AC-33A7-4537-95E4-8BFEAD2B8DE5}" type="datetime1">
              <a:rPr lang="en-US" smtClean="0"/>
              <a:pPr/>
              <a:t>12-May-26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D570E8EC-351D-4E0D-83EA-577580DA1E4E}" type="datetime1">
              <a:rPr lang="en-US" smtClean="0"/>
              <a:pPr/>
              <a:t>12-May-26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1F133-0317-478B-998E-7775AC296F25}" type="datetime1">
              <a:rPr lang="en-US" smtClean="0"/>
              <a:pPr/>
              <a:t>12-May-26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BF0C5-C51F-4579-A036-F896237E2BB4}" type="datetime1">
              <a:rPr lang="en-US" smtClean="0"/>
              <a:pPr/>
              <a:t>12-May-26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41F6E721-ACC3-4331-9614-D9EA3E80A58B}" type="datetime1">
              <a:rPr lang="en-US" smtClean="0"/>
              <a:pPr/>
              <a:t>12-May-26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3"/>
          <p:cNvSpPr>
            <a:spLocks noGrp="1"/>
          </p:cNvSpPr>
          <p:nvPr>
            <p:ph type="ctrTitle"/>
          </p:nvPr>
        </p:nvSpPr>
        <p:spPr>
          <a:xfrm>
            <a:off x="533400" y="2057400"/>
            <a:ext cx="8077200" cy="1673352"/>
          </a:xfrm>
        </p:spPr>
        <p:txBody>
          <a:bodyPr/>
          <a:lstStyle/>
          <a:p>
            <a:pPr>
              <a:defRPr/>
            </a:pPr>
            <a:r>
              <a:rPr lang="en-US" dirty="0"/>
              <a:t>Software Quality (Assurance | Engineering)</a:t>
            </a:r>
          </a:p>
        </p:txBody>
      </p:sp>
      <p:sp>
        <p:nvSpPr>
          <p:cNvPr id="8195" name="Subtitle 3"/>
          <p:cNvSpPr>
            <a:spLocks noGrp="1"/>
          </p:cNvSpPr>
          <p:nvPr>
            <p:ph type="subTitle" idx="1"/>
          </p:nvPr>
        </p:nvSpPr>
        <p:spPr>
          <a:xfrm>
            <a:off x="533400" y="5181600"/>
            <a:ext cx="7696200" cy="533400"/>
          </a:xfrm>
        </p:spPr>
        <p:txBody>
          <a:bodyPr/>
          <a:lstStyle/>
          <a:p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541338" y="3514725"/>
            <a:ext cx="360387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CSC312 / CSE312</a:t>
            </a:r>
          </a:p>
        </p:txBody>
      </p:sp>
      <p:pic>
        <p:nvPicPr>
          <p:cNvPr id="8197" name="Picture 6" descr="http://www.quranrecites.com/media/bismillah/Bismillah1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0"/>
            <a:ext cx="28956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8" name="TextBox 6"/>
          <p:cNvSpPr txBox="1">
            <a:spLocks noChangeArrowheads="1"/>
          </p:cNvSpPr>
          <p:nvPr/>
        </p:nvSpPr>
        <p:spPr bwMode="auto">
          <a:xfrm>
            <a:off x="2971800" y="762000"/>
            <a:ext cx="54102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i="1"/>
              <a:t>In the name of Allah, the Beneficent, the Merciful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84C91E-B962-432C-ABDC-CF5C954769A3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and Dynamic Testing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Static testing refers to testing something that’s not running—</a:t>
            </a:r>
            <a:r>
              <a:rPr lang="en-GB" u="sng" dirty="0"/>
              <a:t>examining and reviewing </a:t>
            </a:r>
            <a:r>
              <a:rPr lang="en-GB" dirty="0"/>
              <a:t>it.</a:t>
            </a:r>
          </a:p>
          <a:p>
            <a:r>
              <a:rPr lang="en-GB" dirty="0"/>
              <a:t>Dynamic testing is what you would normally think of as testing—</a:t>
            </a:r>
            <a:r>
              <a:rPr lang="en-GB" u="sng" dirty="0"/>
              <a:t>running and using the </a:t>
            </a:r>
            <a:r>
              <a:rPr lang="en-US" u="sng" dirty="0"/>
              <a:t>software</a:t>
            </a:r>
          </a:p>
          <a:p>
            <a:r>
              <a:rPr lang="en-GB" dirty="0"/>
              <a:t>Dynamic testing involves </a:t>
            </a:r>
            <a:r>
              <a:rPr lang="en-GB" u="sng" dirty="0"/>
              <a:t>actual execution of code</a:t>
            </a:r>
            <a:r>
              <a:rPr lang="en-GB" dirty="0"/>
              <a:t>, whereas static testing involves a variety of </a:t>
            </a:r>
            <a:r>
              <a:rPr lang="en-GB" u="sng" dirty="0"/>
              <a:t>reviews</a:t>
            </a:r>
            <a:r>
              <a:rPr lang="en-GB" dirty="0"/>
              <a:t>, such as requirement verification, design review, and code review</a:t>
            </a:r>
            <a:endParaRPr lang="en-US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60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vs. Dynamic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554480"/>
          <a:ext cx="8229600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Static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Dynamic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Testing done without executing the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Testing</a:t>
                      </a:r>
                      <a:r>
                        <a:rPr lang="en-US" sz="2200" baseline="0" dirty="0"/>
                        <a:t> done by executing the program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This testing does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This testing does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Static testing is about prevention of defects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Dynamic</a:t>
                      </a:r>
                      <a:r>
                        <a:rPr lang="en-US" sz="2200" baseline="0" dirty="0"/>
                        <a:t> testing is about finding and fixing the  defects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Static testing gives assessment of code and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Dynamic testing gives bugs/bottlenecks in the software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Static testing involves checklist and process to</a:t>
                      </a:r>
                      <a:r>
                        <a:rPr lang="en-US" sz="2200" baseline="0" dirty="0"/>
                        <a:t> be followed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Dynamic testing involves test cases for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Static testing can be performed before compilation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Dynamic testing is performed after compilation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2" descr="http://cdn.guru99.com/images/s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52400"/>
            <a:ext cx="2705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GB" dirty="0"/>
              <a:t>Dynamic Techniques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Aft>
                <a:spcPts val="400"/>
              </a:spcAft>
            </a:pPr>
            <a:r>
              <a:rPr lang="en-GB" dirty="0"/>
              <a:t>Different dynamic techniques are performed throughout the development &amp; maintenance</a:t>
            </a:r>
          </a:p>
          <a:p>
            <a:pPr eaLnBrk="1" hangingPunct="1">
              <a:lnSpc>
                <a:spcPct val="90000"/>
              </a:lnSpc>
              <a:spcAft>
                <a:spcPts val="400"/>
              </a:spcAft>
            </a:pPr>
            <a:endParaRPr lang="en-GB" dirty="0"/>
          </a:p>
          <a:p>
            <a:pPr>
              <a:spcAft>
                <a:spcPts val="400"/>
              </a:spcAft>
            </a:pPr>
            <a:r>
              <a:rPr lang="en-US" dirty="0"/>
              <a:t>Involve the execution of the software and is effective at error detection when software units are combined at the integrated subsystem and system levels.</a:t>
            </a:r>
          </a:p>
          <a:p>
            <a:pPr algn="just" eaLnBrk="1" hangingPunct="1">
              <a:lnSpc>
                <a:spcPct val="90000"/>
              </a:lnSpc>
            </a:pP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400" dirty="0"/>
          </a:p>
          <a:p>
            <a:pPr algn="just"/>
            <a:endParaRPr lang="en-US" sz="24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0" y="1600200"/>
            <a:ext cx="8229600" cy="4724400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lvl1pPr marL="438912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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▪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61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Char char="▪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3"/>
              <a:buChar char=""/>
              <a:defRPr kumimoji="0"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763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136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/>
            <a:r>
              <a:rPr lang="en-US" dirty="0"/>
              <a:t>What is testing?</a:t>
            </a:r>
          </a:p>
          <a:p>
            <a:pPr lvl="1" algn="just"/>
            <a:r>
              <a:rPr lang="en-US" dirty="0"/>
              <a:t>The act of checking if a part or a product performs as expected</a:t>
            </a:r>
          </a:p>
          <a:p>
            <a:pPr algn="just"/>
            <a:r>
              <a:rPr lang="en-US" dirty="0"/>
              <a:t>Why test?</a:t>
            </a:r>
          </a:p>
          <a:p>
            <a:pPr lvl="1" algn="just"/>
            <a:r>
              <a:rPr lang="en-US" dirty="0"/>
              <a:t>Gain confidence in the correctness of a part or a product</a:t>
            </a:r>
          </a:p>
          <a:p>
            <a:pPr lvl="1" algn="just"/>
            <a:r>
              <a:rPr lang="en-US" dirty="0"/>
              <a:t>Check if there are any errors in a part or a product</a:t>
            </a:r>
          </a:p>
          <a:p>
            <a:pPr lvl="1" algn="just"/>
            <a:r>
              <a:rPr lang="en-US" dirty="0"/>
              <a:t>We need to check our work, because we will make mistakes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3429000" y="2803525"/>
            <a:ext cx="2133600" cy="1143000"/>
            <a:chOff x="2208" y="1008"/>
            <a:chExt cx="1344" cy="720"/>
          </a:xfrm>
        </p:grpSpPr>
        <p:sp>
          <p:nvSpPr>
            <p:cNvPr id="5" name="Oval 4"/>
            <p:cNvSpPr>
              <a:spLocks noChangeArrowheads="1"/>
            </p:cNvSpPr>
            <p:nvPr/>
          </p:nvSpPr>
          <p:spPr bwMode="auto">
            <a:xfrm>
              <a:off x="2208" y="1008"/>
              <a:ext cx="1344" cy="7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GB">
                <a:latin typeface="Arial" charset="0"/>
              </a:endParaRPr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2443" y="1219"/>
              <a:ext cx="9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/>
                <a:t>Software</a:t>
              </a:r>
            </a:p>
          </p:txBody>
        </p:sp>
      </p:grp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066800" y="2922588"/>
            <a:ext cx="2362200" cy="490537"/>
            <a:chOff x="720" y="1083"/>
            <a:chExt cx="1488" cy="309"/>
          </a:xfrm>
        </p:grpSpPr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1056" y="139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720" y="1083"/>
              <a:ext cx="102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Apply input</a:t>
              </a:r>
            </a:p>
          </p:txBody>
        </p:sp>
      </p:grp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5638800" y="2922588"/>
            <a:ext cx="2614613" cy="490537"/>
            <a:chOff x="3600" y="1083"/>
            <a:chExt cx="1647" cy="309"/>
          </a:xfrm>
        </p:grpSpPr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3600" y="139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3888" y="1083"/>
              <a:ext cx="135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Observe output</a:t>
              </a: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231776" y="3641725"/>
            <a:ext cx="8626475" cy="2703513"/>
            <a:chOff x="194" y="1536"/>
            <a:chExt cx="5434" cy="1703"/>
          </a:xfrm>
        </p:grpSpPr>
        <p:sp>
          <p:nvSpPr>
            <p:cNvPr id="14" name="AutoShape 13"/>
            <p:cNvSpPr>
              <a:spLocks/>
            </p:cNvSpPr>
            <p:nvPr/>
          </p:nvSpPr>
          <p:spPr bwMode="auto">
            <a:xfrm rot="-5400000">
              <a:off x="2472" y="744"/>
              <a:ext cx="864" cy="2448"/>
            </a:xfrm>
            <a:prstGeom prst="leftBrace">
              <a:avLst>
                <a:gd name="adj1" fmla="val 2361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algn="ctr"/>
              <a:endParaRPr lang="en-GB" b="1"/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194" y="2541"/>
              <a:ext cx="5434" cy="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/>
                <a:t>Verify the observed output</a:t>
              </a:r>
            </a:p>
            <a:p>
              <a:pPr algn="ctr"/>
              <a:endParaRPr lang="en-US" sz="1000" dirty="0"/>
            </a:p>
            <a:p>
              <a:pPr algn="ctr"/>
              <a:r>
                <a:rPr lang="en-US" sz="2800" dirty="0"/>
                <a:t>Is the observed output the same as the expected output? </a:t>
              </a:r>
            </a:p>
          </p:txBody>
        </p:sp>
      </p:grp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609600" y="1616075"/>
            <a:ext cx="7924800" cy="109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en-AU" sz="2800" i="1" dirty="0"/>
              <a:t>The process of finding deviations of </a:t>
            </a:r>
            <a:r>
              <a:rPr lang="en-AU" sz="2800" i="1" dirty="0">
                <a:solidFill>
                  <a:srgbClr val="FF3300"/>
                </a:solidFill>
              </a:rPr>
              <a:t>observed behaviour</a:t>
            </a:r>
            <a:r>
              <a:rPr lang="en-AU" sz="2800" i="1" dirty="0"/>
              <a:t> from the </a:t>
            </a:r>
            <a:r>
              <a:rPr lang="en-AU" sz="2800" i="1" dirty="0">
                <a:solidFill>
                  <a:srgbClr val="FF3300"/>
                </a:solidFill>
              </a:rPr>
              <a:t>expected behaviour.</a:t>
            </a:r>
            <a:endParaRPr lang="en-US" sz="2800" i="1" dirty="0">
              <a:solidFill>
                <a:srgbClr val="FF3300"/>
              </a:solidFill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5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Philosophy 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04800" y="1600200"/>
            <a:ext cx="8001000" cy="4572000"/>
          </a:xfrm>
          <a:prstGeom prst="rect">
            <a:avLst/>
          </a:prstGeom>
        </p:spPr>
        <p:txBody>
          <a:bodyPr vert="horz" lIns="54864" tIns="91440" rtlCol="0">
            <a:noAutofit/>
          </a:bodyPr>
          <a:lstStyle>
            <a:lvl1pPr marL="438912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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▪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61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Char char="▪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3"/>
              <a:buChar char=""/>
              <a:defRPr kumimoji="0"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763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136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/>
            <a:r>
              <a:rPr lang="en-AU" dirty="0"/>
              <a:t>Testing has a different philosophy compared to other activities in the development life cycle</a:t>
            </a:r>
          </a:p>
          <a:p>
            <a:pPr lvl="1" algn="just">
              <a:spcBef>
                <a:spcPts val="0"/>
              </a:spcBef>
            </a:pPr>
            <a:r>
              <a:rPr lang="en-AU" dirty="0"/>
              <a:t>Testing Is aimed at breaking the system</a:t>
            </a:r>
          </a:p>
          <a:p>
            <a:pPr lvl="1" algn="just">
              <a:spcBef>
                <a:spcPts val="0"/>
              </a:spcBef>
            </a:pPr>
            <a:endParaRPr lang="en-AU" dirty="0"/>
          </a:p>
          <a:p>
            <a:pPr algn="just"/>
            <a:r>
              <a:rPr lang="en-AU" dirty="0"/>
              <a:t>Ideally should be performed by technical persons who are not involved in the development of the system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47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Testing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process involves:</a:t>
            </a:r>
          </a:p>
          <a:p>
            <a:pPr lvl="1"/>
            <a:r>
              <a:rPr lang="en-US" sz="3200" dirty="0"/>
              <a:t>Test planning</a:t>
            </a:r>
          </a:p>
          <a:p>
            <a:pPr lvl="1"/>
            <a:r>
              <a:rPr lang="en-US" sz="3200" dirty="0"/>
              <a:t>Test Project</a:t>
            </a:r>
          </a:p>
          <a:p>
            <a:pPr lvl="1"/>
            <a:r>
              <a:rPr lang="en-US" sz="3200" dirty="0"/>
              <a:t>Test Execution</a:t>
            </a:r>
          </a:p>
          <a:p>
            <a:pPr lvl="1"/>
            <a:r>
              <a:rPr lang="en-US" sz="3200" dirty="0"/>
              <a:t>Test Record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10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related testing activities are planned and documented</a:t>
            </a:r>
          </a:p>
          <a:p>
            <a:pPr lvl="1"/>
            <a:r>
              <a:rPr lang="en-US" dirty="0"/>
              <a:t>What parts of the product will be tested</a:t>
            </a:r>
          </a:p>
          <a:p>
            <a:pPr lvl="1"/>
            <a:r>
              <a:rPr lang="en-US" dirty="0"/>
              <a:t>What test levels or phases will be covered </a:t>
            </a:r>
          </a:p>
          <a:p>
            <a:pPr lvl="1"/>
            <a:r>
              <a:rPr lang="en-US" dirty="0"/>
              <a:t>Which test technique and criteria will be used in each phase</a:t>
            </a:r>
          </a:p>
          <a:p>
            <a:pPr lvl="1"/>
            <a:r>
              <a:rPr lang="en-US" dirty="0"/>
              <a:t>What necessary resources are required</a:t>
            </a:r>
          </a:p>
          <a:p>
            <a:pPr lvl="1"/>
            <a:r>
              <a:rPr lang="en-US" dirty="0"/>
              <a:t>What is the operational environment </a:t>
            </a:r>
          </a:p>
          <a:p>
            <a:pPr lvl="1"/>
            <a:r>
              <a:rPr lang="en-US" dirty="0"/>
              <a:t>Related schedule of each 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03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Once the test plan is defined it is refined during this stage</a:t>
            </a:r>
          </a:p>
          <a:p>
            <a:r>
              <a:rPr lang="en-US" dirty="0"/>
              <a:t>Test cases are really created aiming at reaching the desired quality level</a:t>
            </a:r>
          </a:p>
          <a:p>
            <a:pPr lvl="1"/>
            <a:r>
              <a:rPr lang="en-US" dirty="0"/>
              <a:t>Test case generation is the </a:t>
            </a:r>
            <a:r>
              <a:rPr lang="en-US" dirty="0">
                <a:solidFill>
                  <a:srgbClr val="FF0000"/>
                </a:solidFill>
              </a:rPr>
              <a:t>most time consuming</a:t>
            </a:r>
            <a:r>
              <a:rPr lang="en-US" dirty="0"/>
              <a:t> activity during testing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93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Once the test cases are defined they can be run to collect the test results</a:t>
            </a:r>
          </a:p>
          <a:p>
            <a:r>
              <a:rPr lang="en-US" dirty="0"/>
              <a:t>For the purpose, the existence of testing tools is almost mandatory since there are several tasks that, if executed manually, are very error prone and subject to human mistakes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25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Finally the results produced during the test execution are documented in the “</a:t>
            </a:r>
            <a:r>
              <a:rPr lang="en-US" dirty="0">
                <a:solidFill>
                  <a:srgbClr val="FF0000"/>
                </a:solidFill>
              </a:rPr>
              <a:t>Test Daily Report</a:t>
            </a:r>
            <a:r>
              <a:rPr lang="en-US" dirty="0"/>
              <a:t>”</a:t>
            </a:r>
          </a:p>
          <a:p>
            <a:r>
              <a:rPr lang="en-US" dirty="0"/>
              <a:t>If any discrepancy observed with respect to the software specification, “</a:t>
            </a:r>
            <a:r>
              <a:rPr lang="en-US" dirty="0">
                <a:solidFill>
                  <a:srgbClr val="FF0000"/>
                </a:solidFill>
              </a:rPr>
              <a:t>Test Incident Report</a:t>
            </a:r>
            <a:r>
              <a:rPr lang="en-US" dirty="0"/>
              <a:t>” is filled and corrective actions can be taken</a:t>
            </a:r>
          </a:p>
          <a:p>
            <a:r>
              <a:rPr lang="en-US" dirty="0"/>
              <a:t>At the end “</a:t>
            </a:r>
            <a:r>
              <a:rPr lang="en-US" dirty="0">
                <a:solidFill>
                  <a:srgbClr val="FF0000"/>
                </a:solidFill>
              </a:rPr>
              <a:t>Test Summary Report</a:t>
            </a:r>
            <a:r>
              <a:rPr lang="en-US" dirty="0"/>
              <a:t>” is produced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74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Testing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92065"/>
            <a:ext cx="9073006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24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Dynamic Software </a:t>
            </a:r>
            <a:r>
              <a:rPr lang="en-US" dirty="0" err="1"/>
              <a:t>Testig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major types of software testing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White-box Testing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Gray-box Testing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Black-box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Levels of Testing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774825"/>
          <a:ext cx="82296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Level</a:t>
                      </a:r>
                      <a:r>
                        <a:rPr lang="en-US" sz="3200" baseline="0" dirty="0"/>
                        <a:t> of Testing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Performed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Unit (Module)</a:t>
                      </a:r>
                      <a:r>
                        <a:rPr lang="en-US" sz="3200" baseline="0" dirty="0"/>
                        <a:t> Testing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Programmer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Integration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Development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System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Independent</a:t>
                      </a:r>
                      <a:r>
                        <a:rPr lang="en-US" sz="3200" baseline="0" dirty="0"/>
                        <a:t> Test Group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Acceptance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Testing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905000"/>
            <a:ext cx="3819525" cy="41910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35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Level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TESTING is a level of software testing where individual units/ components of a software are tested</a:t>
            </a:r>
          </a:p>
          <a:p>
            <a:r>
              <a:rPr lang="en-US" dirty="0"/>
              <a:t>The purpose is to validate that each unit of the software performs as designed</a:t>
            </a:r>
          </a:p>
          <a:p>
            <a:r>
              <a:rPr lang="en-US" dirty="0"/>
              <a:t>A unit is the smallest testable part of any software</a:t>
            </a:r>
          </a:p>
          <a:p>
            <a:r>
              <a:rPr lang="en-US" dirty="0"/>
              <a:t>It usually has one or a few inputs and usually a single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45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Level Testing </a:t>
            </a:r>
            <a:r>
              <a:rPr lang="en-US" sz="2200" dirty="0"/>
              <a:t>(Continue…)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procedural programming, a unit may be an individual program, function, procedure, etc.</a:t>
            </a:r>
          </a:p>
          <a:p>
            <a:pPr lvl="1"/>
            <a:r>
              <a:rPr lang="en-US" dirty="0"/>
              <a:t>C, Pascal, VB, Python</a:t>
            </a:r>
          </a:p>
          <a:p>
            <a:r>
              <a:rPr lang="en-US" dirty="0"/>
              <a:t>In object-oriented programming, the smallest unit is a method and sometimes a class is considered as the smallest unit</a:t>
            </a:r>
          </a:p>
          <a:p>
            <a:pPr lvl="1"/>
            <a:r>
              <a:rPr lang="en-US" dirty="0"/>
              <a:t>C++, Java, Pascal, Python, C#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57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INTEGRATION TESTING is a level of software testing where individual units are combined and tested as a group</a:t>
            </a:r>
          </a:p>
          <a:p>
            <a:r>
              <a:rPr lang="en-US" dirty="0"/>
              <a:t>The purpose is to expose faults in the interaction between integrated units</a:t>
            </a:r>
          </a:p>
          <a:p>
            <a:r>
              <a:rPr lang="en-US" dirty="0"/>
              <a:t>Test drivers and test stubs are used in it</a:t>
            </a:r>
          </a:p>
          <a:p>
            <a:r>
              <a:rPr lang="en-US" dirty="0"/>
              <a:t>Integration can be done in many ways;</a:t>
            </a:r>
          </a:p>
          <a:p>
            <a:pPr lvl="1"/>
            <a:r>
              <a:rPr lang="en-US" dirty="0"/>
              <a:t>Top-down Integration Testing</a:t>
            </a:r>
          </a:p>
          <a:p>
            <a:pPr lvl="1"/>
            <a:r>
              <a:rPr lang="en-US" dirty="0"/>
              <a:t>Bottom-up Integration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01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TESTING is a level of software testing where a complete and integrated software is tested</a:t>
            </a:r>
          </a:p>
          <a:p>
            <a:r>
              <a:rPr lang="en-US" dirty="0"/>
              <a:t>The purpose of this test is to evaluate the system’s compliance with the specified requirements</a:t>
            </a:r>
          </a:p>
          <a:p>
            <a:r>
              <a:rPr lang="en-US" dirty="0"/>
              <a:t>Black-box testing techniques are used to perform System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16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Acceptance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ACCEPTANCE TESTING is a level of software testing where a system is tested for acceptability</a:t>
            </a:r>
          </a:p>
          <a:p>
            <a:r>
              <a:rPr lang="en-US" dirty="0"/>
              <a:t>The purpose of this test is to evaluate the system’s compliance with the business requirements and assess whether it is acceptable for use</a:t>
            </a:r>
          </a:p>
          <a:p>
            <a:r>
              <a:rPr lang="en-US" dirty="0"/>
              <a:t>Performed by the customer in actual operational environment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93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Types of System Test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Functional Testing</a:t>
            </a:r>
          </a:p>
          <a:p>
            <a:r>
              <a:rPr lang="en-US" dirty="0"/>
              <a:t>Performance Testing</a:t>
            </a:r>
          </a:p>
          <a:p>
            <a:r>
              <a:rPr lang="en-US" dirty="0"/>
              <a:t>Stress Testing</a:t>
            </a:r>
          </a:p>
          <a:p>
            <a:r>
              <a:rPr lang="en-US" dirty="0"/>
              <a:t>Configuration Testing</a:t>
            </a:r>
          </a:p>
          <a:p>
            <a:r>
              <a:rPr lang="en-US" dirty="0"/>
              <a:t>Security Testing </a:t>
            </a:r>
          </a:p>
          <a:p>
            <a:r>
              <a:rPr lang="en-US" dirty="0"/>
              <a:t>Recovery Testing</a:t>
            </a:r>
          </a:p>
          <a:p>
            <a:r>
              <a:rPr lang="en-US" dirty="0"/>
              <a:t>Usability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28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Testing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other popular dynamic testing techniques include;</a:t>
            </a:r>
          </a:p>
          <a:p>
            <a:pPr lvl="1"/>
            <a:r>
              <a:rPr lang="en-US" dirty="0"/>
              <a:t>Model Based Testing</a:t>
            </a:r>
          </a:p>
          <a:p>
            <a:pPr lvl="1"/>
            <a:r>
              <a:rPr lang="en-US" dirty="0"/>
              <a:t>Mutation Testing</a:t>
            </a:r>
          </a:p>
          <a:p>
            <a:pPr lvl="1"/>
            <a:r>
              <a:rPr lang="en-US" dirty="0"/>
              <a:t>Evolutionary Testing</a:t>
            </a:r>
          </a:p>
          <a:p>
            <a:pPr lvl="1"/>
            <a:r>
              <a:rPr lang="en-US" dirty="0"/>
              <a:t>Regression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94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3383</TotalTime>
  <Words>932</Words>
  <Application>Microsoft Office PowerPoint</Application>
  <PresentationFormat>On-screen Show (4:3)</PresentationFormat>
  <Paragraphs>155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Corbel</vt:lpstr>
      <vt:lpstr>Times New Roman</vt:lpstr>
      <vt:lpstr>Wingdings</vt:lpstr>
      <vt:lpstr>Wingdings 2</vt:lpstr>
      <vt:lpstr>Wingdings 3</vt:lpstr>
      <vt:lpstr>Module</vt:lpstr>
      <vt:lpstr>Software Quality (Assurance | Engineering)</vt:lpstr>
      <vt:lpstr>Static and Dynamic Testing </vt:lpstr>
      <vt:lpstr>Static vs. Dynamic</vt:lpstr>
      <vt:lpstr>Dynamic Techniques</vt:lpstr>
      <vt:lpstr>Testing</vt:lpstr>
      <vt:lpstr>Testing</vt:lpstr>
      <vt:lpstr>Testing Philosophy </vt:lpstr>
      <vt:lpstr>Generic Testing Process</vt:lpstr>
      <vt:lpstr>Test Planning</vt:lpstr>
      <vt:lpstr>Test Project</vt:lpstr>
      <vt:lpstr>Test Execution</vt:lpstr>
      <vt:lpstr>Test Record</vt:lpstr>
      <vt:lpstr>Generic Testing Process</vt:lpstr>
      <vt:lpstr>Types of Dynamic Software Testig</vt:lpstr>
      <vt:lpstr>Levels of Testing</vt:lpstr>
      <vt:lpstr>Levels of Testing</vt:lpstr>
      <vt:lpstr>Unit Level Testing</vt:lpstr>
      <vt:lpstr>Unit Level Testing (Continue…)</vt:lpstr>
      <vt:lpstr>Integration Testing</vt:lpstr>
      <vt:lpstr>System Testing</vt:lpstr>
      <vt:lpstr>Acceptance Testing</vt:lpstr>
      <vt:lpstr>Types of System Test</vt:lpstr>
      <vt:lpstr>Other Testing Techniques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PLANNING:  GOAL SETTING and STRATEGY FORMATION</dc:title>
  <dc:creator>Rizwan bin Faiz</dc:creator>
  <cp:lastModifiedBy>FAHEEM SHAUKAT</cp:lastModifiedBy>
  <cp:revision>153</cp:revision>
  <dcterms:created xsi:type="dcterms:W3CDTF">2006-08-16T00:00:00Z</dcterms:created>
  <dcterms:modified xsi:type="dcterms:W3CDTF">2026-05-12T11:44:28Z</dcterms:modified>
</cp:coreProperties>
</file>