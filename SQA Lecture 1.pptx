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Action1.xml" ContentType="application/vnd.ms-office.inkAct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406" r:id="rId5"/>
    <p:sldId id="259" r:id="rId6"/>
    <p:sldId id="260" r:id="rId7"/>
    <p:sldId id="261" r:id="rId8"/>
    <p:sldId id="262" r:id="rId9"/>
    <p:sldId id="263" r:id="rId10"/>
    <p:sldId id="272" r:id="rId11"/>
    <p:sldId id="265" r:id="rId12"/>
    <p:sldId id="270" r:id="rId13"/>
    <p:sldId id="271" r:id="rId14"/>
    <p:sldId id="266" r:id="rId15"/>
    <p:sldId id="26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9-17T05:46:15.9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act:action type="add" startTime="13119">
    <iact:property name="dataType"/>
    <iact:actionData xml:id="d0">
      <inkml:trace xmlns:inkml="http://www.w3.org/2003/InkML" xml:id="stk0" contextRef="#ctx0" brushRef="#br0">6324 9421 0,'278'70'168,"-243"-70"-159,0 0 2,0 0 1,-1 0-10,1 0 7,0 34 2,69-34-2,-34 0 4,-36 0-4,105 0 3,-35 0-10,70 0 7,69 0 1,209 0 0,-243 0-2,-70 0 3,0 0-3,-35 0 3,104 0 0,-138 0-3,-1 35 2,-34-35-2,0 0-1,0 0-1,34 0 1,35 0 3,1 0-1,68 0-1,-34 35-1,104 0 2,1-1 2,-1 1-8,-104-35 8,35 35 0,-70-35-6,-35 35 5,1-35-4,34 34-1,-69-34 6,69 0-6,-34 0 6,103 35-3,-103-35 1,34 35-5,0 0 7,1-35-4,-36 0 2,1 35-2,-36-35 2,36 0-4,-35 0 6,-1 0 2,1 0 22,0 0-18</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1B15D0-99D7-41CD-82C7-2BE48CE36A00}" type="datetimeFigureOut">
              <a:rPr lang="en-US" smtClean="0"/>
              <a:t>17-Feb-26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485BDA-4E15-47DF-94EB-009C340BF0FD}" type="slidenum">
              <a:rPr lang="en-US" smtClean="0"/>
              <a:t>‹#›</a:t>
            </a:fld>
            <a:endParaRPr lang="en-US"/>
          </a:p>
        </p:txBody>
      </p:sp>
    </p:spTree>
    <p:extLst>
      <p:ext uri="{BB962C8B-B14F-4D97-AF65-F5344CB8AC3E}">
        <p14:creationId xmlns:p14="http://schemas.microsoft.com/office/powerpoint/2010/main" val="200144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DA49CE1-2A92-47A4-B833-FD0B0BF7ABE3}" type="datetime1">
              <a:rPr lang="en-US" smtClean="0"/>
              <a:t>17-Feb-26</a:t>
            </a:fld>
            <a:endParaRPr lang="en-US"/>
          </a:p>
        </p:txBody>
      </p:sp>
      <p:sp>
        <p:nvSpPr>
          <p:cNvPr id="17" name="Footer Placeholder 16"/>
          <p:cNvSpPr>
            <a:spLocks noGrp="1"/>
          </p:cNvSpPr>
          <p:nvPr>
            <p:ph type="ftr" sz="quarter" idx="11"/>
          </p:nvPr>
        </p:nvSpPr>
        <p:spPr/>
        <p:txBody>
          <a:bodyPr/>
          <a:lstStyle/>
          <a:p>
            <a:r>
              <a:rPr lang="en-US"/>
              <a:t>Dr. Muhammad Wasif Nisar</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DAA5790D-B666-475A-A6BE-B57286F24B7C}"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78796AA-362C-4F50-8F18-037DCD92CE90}" type="datetime1">
              <a:rPr lang="en-US" smtClean="0"/>
              <a:t>17-Feb-26</a:t>
            </a:fld>
            <a:endParaRPr lang="en-US"/>
          </a:p>
        </p:txBody>
      </p:sp>
      <p:sp>
        <p:nvSpPr>
          <p:cNvPr id="5" name="Footer Placeholder 4"/>
          <p:cNvSpPr>
            <a:spLocks noGrp="1"/>
          </p:cNvSpPr>
          <p:nvPr>
            <p:ph type="ftr" sz="quarter" idx="11"/>
          </p:nvPr>
        </p:nvSpPr>
        <p:spPr/>
        <p:txBody>
          <a:bodyPr/>
          <a:lstStyle/>
          <a:p>
            <a:r>
              <a:rPr lang="en-US"/>
              <a:t>Dr. Muhammad Wasif Nisar</a:t>
            </a:r>
          </a:p>
        </p:txBody>
      </p:sp>
      <p:sp>
        <p:nvSpPr>
          <p:cNvPr id="6" name="Slide Number Placeholder 5"/>
          <p:cNvSpPr>
            <a:spLocks noGrp="1"/>
          </p:cNvSpPr>
          <p:nvPr>
            <p:ph type="sldNum" sz="quarter" idx="12"/>
          </p:nvPr>
        </p:nvSpPr>
        <p:spPr/>
        <p:txBody>
          <a:bodyPr/>
          <a:lstStyle/>
          <a:p>
            <a:fld id="{DAA5790D-B666-475A-A6BE-B57286F24B7C}"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1A03E96-374D-4C45-B4F8-91DE4821DB80}" type="datetime1">
              <a:rPr lang="en-US" smtClean="0"/>
              <a:t>17-Feb-26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Dr. Muhammad Wasif Nisar</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DAA5790D-B666-475A-A6BE-B57286F24B7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D03B9A9-20B2-4C14-85A2-DE58DD67532B}" type="datetime1">
              <a:rPr lang="en-US" smtClean="0"/>
              <a:t>17-Feb-26</a:t>
            </a:fld>
            <a:endParaRPr lang="en-US"/>
          </a:p>
        </p:txBody>
      </p:sp>
      <p:sp>
        <p:nvSpPr>
          <p:cNvPr id="6" name="Footer Placeholder 5"/>
          <p:cNvSpPr>
            <a:spLocks noGrp="1"/>
          </p:cNvSpPr>
          <p:nvPr>
            <p:ph type="ftr" sz="quarter" idx="11"/>
          </p:nvPr>
        </p:nvSpPr>
        <p:spPr/>
        <p:txBody>
          <a:bodyPr/>
          <a:lstStyle/>
          <a:p>
            <a:r>
              <a:rPr lang="en-US"/>
              <a:t>Dr. Muhammad Wasif Nisar</a:t>
            </a:r>
          </a:p>
        </p:txBody>
      </p:sp>
      <p:sp>
        <p:nvSpPr>
          <p:cNvPr id="7" name="Slide Number Placeholder 6"/>
          <p:cNvSpPr>
            <a:spLocks noGrp="1"/>
          </p:cNvSpPr>
          <p:nvPr>
            <p:ph type="sldNum" sz="quarter" idx="12"/>
          </p:nvPr>
        </p:nvSpPr>
        <p:spPr/>
        <p:txBody>
          <a:bodyPr/>
          <a:lstStyle/>
          <a:p>
            <a:fld id="{DAA5790D-B666-475A-A6BE-B57286F24B7C}"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29E0DDF-7637-4C70-B67D-0C40C8C9634E}" type="datetime1">
              <a:rPr lang="en-US" smtClean="0"/>
              <a:t>17-Feb-26</a:t>
            </a:fld>
            <a:endParaRPr lang="en-US"/>
          </a:p>
        </p:txBody>
      </p:sp>
      <p:sp>
        <p:nvSpPr>
          <p:cNvPr id="8" name="Footer Placeholder 7"/>
          <p:cNvSpPr>
            <a:spLocks noGrp="1"/>
          </p:cNvSpPr>
          <p:nvPr>
            <p:ph type="ftr" sz="quarter" idx="11"/>
          </p:nvPr>
        </p:nvSpPr>
        <p:spPr/>
        <p:txBody>
          <a:bodyPr/>
          <a:lstStyle/>
          <a:p>
            <a:r>
              <a:rPr lang="en-US"/>
              <a:t>Dr. Muhammad Wasif Nisar</a:t>
            </a:r>
          </a:p>
        </p:txBody>
      </p:sp>
      <p:sp>
        <p:nvSpPr>
          <p:cNvPr id="9" name="Slide Number Placeholder 8"/>
          <p:cNvSpPr>
            <a:spLocks noGrp="1"/>
          </p:cNvSpPr>
          <p:nvPr>
            <p:ph type="sldNum" sz="quarter" idx="12"/>
          </p:nvPr>
        </p:nvSpPr>
        <p:spPr/>
        <p:txBody>
          <a:bodyPr/>
          <a:lstStyle/>
          <a:p>
            <a:fld id="{DAA5790D-B666-475A-A6BE-B57286F24B7C}"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161E072-FE58-45CE-A4C4-DEEB545D6347}" type="datetime1">
              <a:rPr lang="en-US" smtClean="0"/>
              <a:t>17-Feb-26</a:t>
            </a:fld>
            <a:endParaRPr lang="en-US"/>
          </a:p>
        </p:txBody>
      </p:sp>
      <p:sp>
        <p:nvSpPr>
          <p:cNvPr id="4" name="Footer Placeholder 3"/>
          <p:cNvSpPr>
            <a:spLocks noGrp="1"/>
          </p:cNvSpPr>
          <p:nvPr>
            <p:ph type="ftr" sz="quarter" idx="11"/>
          </p:nvPr>
        </p:nvSpPr>
        <p:spPr/>
        <p:txBody>
          <a:bodyPr/>
          <a:lstStyle/>
          <a:p>
            <a:r>
              <a:rPr lang="en-US"/>
              <a:t>Dr. Muhammad Wasif Nisar</a:t>
            </a:r>
          </a:p>
        </p:txBody>
      </p:sp>
      <p:sp>
        <p:nvSpPr>
          <p:cNvPr id="5" name="Slide Number Placeholder 4"/>
          <p:cNvSpPr>
            <a:spLocks noGrp="1"/>
          </p:cNvSpPr>
          <p:nvPr>
            <p:ph type="sldNum" sz="quarter" idx="12"/>
          </p:nvPr>
        </p:nvSpPr>
        <p:spPr/>
        <p:txBody>
          <a:bodyPr/>
          <a:lstStyle/>
          <a:p>
            <a:fld id="{DAA5790D-B666-475A-A6BE-B57286F24B7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2202CD-13FB-45BB-B76D-14C62E4B6DA7}" type="datetime1">
              <a:rPr lang="en-US" smtClean="0"/>
              <a:t>17-Feb-26</a:t>
            </a:fld>
            <a:endParaRPr lang="en-US"/>
          </a:p>
        </p:txBody>
      </p:sp>
      <p:sp>
        <p:nvSpPr>
          <p:cNvPr id="3" name="Footer Placeholder 2"/>
          <p:cNvSpPr>
            <a:spLocks noGrp="1"/>
          </p:cNvSpPr>
          <p:nvPr>
            <p:ph type="ftr" sz="quarter" idx="11"/>
          </p:nvPr>
        </p:nvSpPr>
        <p:spPr/>
        <p:txBody>
          <a:bodyPr/>
          <a:lstStyle/>
          <a:p>
            <a:r>
              <a:rPr lang="en-US"/>
              <a:t>Dr. Muhammad Wasif Nisar</a:t>
            </a:r>
          </a:p>
        </p:txBody>
      </p:sp>
      <p:sp>
        <p:nvSpPr>
          <p:cNvPr id="4" name="Slide Number Placeholder 3"/>
          <p:cNvSpPr>
            <a:spLocks noGrp="1"/>
          </p:cNvSpPr>
          <p:nvPr>
            <p:ph type="sldNum" sz="quarter" idx="12"/>
          </p:nvPr>
        </p:nvSpPr>
        <p:spPr/>
        <p:txBody>
          <a:bodyPr/>
          <a:lstStyle/>
          <a:p>
            <a:fld id="{DAA5790D-B666-475A-A6BE-B57286F24B7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3680964-F1B7-467E-B5D9-FDAE377382E7}" type="datetime1">
              <a:rPr lang="en-US" smtClean="0"/>
              <a:t>17-Feb-26</a:t>
            </a:fld>
            <a:endParaRPr lang="en-US"/>
          </a:p>
        </p:txBody>
      </p:sp>
      <p:sp>
        <p:nvSpPr>
          <p:cNvPr id="6" name="Footer Placeholder 5"/>
          <p:cNvSpPr>
            <a:spLocks noGrp="1"/>
          </p:cNvSpPr>
          <p:nvPr>
            <p:ph type="ftr" sz="quarter" idx="11"/>
          </p:nvPr>
        </p:nvSpPr>
        <p:spPr/>
        <p:txBody>
          <a:bodyPr/>
          <a:lstStyle/>
          <a:p>
            <a:r>
              <a:rPr lang="en-US"/>
              <a:t>Dr. Muhammad Wasif Nisar</a:t>
            </a:r>
          </a:p>
        </p:txBody>
      </p:sp>
      <p:sp>
        <p:nvSpPr>
          <p:cNvPr id="7" name="Slide Number Placeholder 6"/>
          <p:cNvSpPr>
            <a:spLocks noGrp="1"/>
          </p:cNvSpPr>
          <p:nvPr>
            <p:ph type="sldNum" sz="quarter" idx="12"/>
          </p:nvPr>
        </p:nvSpPr>
        <p:spPr/>
        <p:txBody>
          <a:bodyPr/>
          <a:lstStyle/>
          <a:p>
            <a:fld id="{DAA5790D-B666-475A-A6BE-B57286F24B7C}"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2DC37B8-4227-4796-AD55-F9B79B9FEFF3}" type="datetime1">
              <a:rPr lang="en-US" smtClean="0"/>
              <a:t>17-Feb-26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Dr. Muhammad Wasif Nisar</a:t>
            </a:r>
          </a:p>
        </p:txBody>
      </p:sp>
      <p:sp>
        <p:nvSpPr>
          <p:cNvPr id="7" name="Slide Number Placeholder 6"/>
          <p:cNvSpPr>
            <a:spLocks noGrp="1"/>
          </p:cNvSpPr>
          <p:nvPr>
            <p:ph type="sldNum" sz="quarter" idx="12"/>
          </p:nvPr>
        </p:nvSpPr>
        <p:spPr>
          <a:xfrm>
            <a:off x="146304" y="6208776"/>
            <a:ext cx="457200" cy="457200"/>
          </a:xfrm>
        </p:spPr>
        <p:txBody>
          <a:bodyPr/>
          <a:lstStyle/>
          <a:p>
            <a:fld id="{DAA5790D-B666-475A-A6BE-B57286F24B7C}"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97C51B8-8F3B-4777-98F5-E2BF3E2DF03C}" type="datetime1">
              <a:rPr lang="en-US" smtClean="0"/>
              <a:t>17-Feb-26</a:t>
            </a:fld>
            <a:endParaRPr lang="en-US"/>
          </a:p>
        </p:txBody>
      </p:sp>
      <p:sp>
        <p:nvSpPr>
          <p:cNvPr id="5" name="Footer Placeholder 4"/>
          <p:cNvSpPr>
            <a:spLocks noGrp="1"/>
          </p:cNvSpPr>
          <p:nvPr>
            <p:ph type="ftr" sz="quarter" idx="11"/>
          </p:nvPr>
        </p:nvSpPr>
        <p:spPr/>
        <p:txBody>
          <a:bodyPr/>
          <a:lstStyle/>
          <a:p>
            <a:r>
              <a:rPr lang="en-US"/>
              <a:t>Dr. Muhammad Wasif Nisar</a:t>
            </a:r>
          </a:p>
        </p:txBody>
      </p:sp>
      <p:sp>
        <p:nvSpPr>
          <p:cNvPr id="6" name="Slide Number Placeholder 5"/>
          <p:cNvSpPr>
            <a:spLocks noGrp="1"/>
          </p:cNvSpPr>
          <p:nvPr>
            <p:ph type="sldNum" sz="quarter" idx="12"/>
          </p:nvPr>
        </p:nvSpPr>
        <p:spPr/>
        <p:txBody>
          <a:bodyPr/>
          <a:lstStyle/>
          <a:p>
            <a:fld id="{DAA5790D-B666-475A-A6BE-B57286F24B7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2424BFB-EBC7-4AC2-8FB9-3DBAA0994AC4}" type="datetime1">
              <a:rPr lang="en-US" smtClean="0"/>
              <a:t>17-Feb-26</a:t>
            </a:fld>
            <a:endParaRPr lang="en-US"/>
          </a:p>
        </p:txBody>
      </p:sp>
      <p:sp>
        <p:nvSpPr>
          <p:cNvPr id="5" name="Footer Placeholder 4"/>
          <p:cNvSpPr>
            <a:spLocks noGrp="1"/>
          </p:cNvSpPr>
          <p:nvPr>
            <p:ph type="ftr" sz="quarter" idx="11"/>
          </p:nvPr>
        </p:nvSpPr>
        <p:spPr/>
        <p:txBody>
          <a:bodyPr/>
          <a:lstStyle/>
          <a:p>
            <a:r>
              <a:rPr lang="en-US"/>
              <a:t>Dr. Muhammad Wasif Nisar</a:t>
            </a:r>
          </a:p>
        </p:txBody>
      </p:sp>
      <p:sp>
        <p:nvSpPr>
          <p:cNvPr id="6" name="Slide Number Placeholder 5"/>
          <p:cNvSpPr>
            <a:spLocks noGrp="1"/>
          </p:cNvSpPr>
          <p:nvPr>
            <p:ph type="sldNum" sz="quarter" idx="12"/>
          </p:nvPr>
        </p:nvSpPr>
        <p:spPr/>
        <p:txBody>
          <a:bodyPr/>
          <a:lstStyle/>
          <a:p>
            <a:fld id="{DAA5790D-B666-475A-A6BE-B57286F24B7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535CCD9-B89D-4F34-8D35-13AF85838FE1}" type="datetime1">
              <a:rPr lang="en-US" smtClean="0"/>
              <a:t>17-Feb-26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Dr. Muhammad Wasif Nisar</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AA5790D-B666-475A-A6BE-B57286F24B7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faheem@iqraisb.edu.p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11/relationships/inkAction" Target="../ink/inkAction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qastreet.com/" TargetMode="External"/><Relationship Id="rId7" Type="http://schemas.openxmlformats.org/officeDocument/2006/relationships/image" Target="../media/image4.gif"/><Relationship Id="rId2" Type="http://schemas.openxmlformats.org/officeDocument/2006/relationships/hyperlink" Target="http://www.onestoptesting.com/" TargetMode="External"/><Relationship Id="rId1" Type="http://schemas.openxmlformats.org/officeDocument/2006/relationships/slideLayout" Target="../slideLayouts/slideLayout2.xml"/><Relationship Id="rId6" Type="http://schemas.openxmlformats.org/officeDocument/2006/relationships/hyperlink" Target="http://portal.acm.org/" TargetMode="External"/><Relationship Id="rId5" Type="http://schemas.openxmlformats.org/officeDocument/2006/relationships/hyperlink" Target="http://www.springer.com/" TargetMode="External"/><Relationship Id="rId4" Type="http://schemas.openxmlformats.org/officeDocument/2006/relationships/hyperlink" Target="http://www.computer.org/"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3200400"/>
            <a:ext cx="7924800" cy="2286000"/>
          </a:xfrm>
        </p:spPr>
        <p:txBody>
          <a:bodyPr>
            <a:normAutofit/>
          </a:bodyPr>
          <a:lstStyle/>
          <a:p>
            <a:r>
              <a:rPr lang="en-US" b="1" dirty="0"/>
              <a:t>LECTURE # 1</a:t>
            </a:r>
            <a:br>
              <a:rPr lang="en-US" dirty="0"/>
            </a:br>
            <a:br>
              <a:rPr lang="en-US" dirty="0"/>
            </a:br>
            <a:r>
              <a:rPr lang="en-US" b="1" dirty="0"/>
              <a:t>INTRODUCTION</a:t>
            </a:r>
          </a:p>
          <a:p>
            <a:endParaRPr lang="en-US" b="1" dirty="0"/>
          </a:p>
        </p:txBody>
      </p:sp>
      <p:sp>
        <p:nvSpPr>
          <p:cNvPr id="2" name="Title 1"/>
          <p:cNvSpPr>
            <a:spLocks noGrp="1"/>
          </p:cNvSpPr>
          <p:nvPr>
            <p:ph type="ctrTitle"/>
          </p:nvPr>
        </p:nvSpPr>
        <p:spPr/>
        <p:txBody>
          <a:bodyPr>
            <a:normAutofit/>
          </a:bodyPr>
          <a:lstStyle/>
          <a:p>
            <a:r>
              <a:rPr lang="en-US" b="1" dirty="0"/>
              <a:t>SEN455</a:t>
            </a:r>
            <a:br>
              <a:rPr lang="en-US" b="1" dirty="0"/>
            </a:br>
            <a:r>
              <a:rPr lang="en-US" b="1" dirty="0"/>
              <a:t>SOFTWARE QUALITY ASSURANCE</a:t>
            </a:r>
            <a:endParaRPr lang="en-US" dirty="0"/>
          </a:p>
        </p:txBody>
      </p:sp>
      <p:sp>
        <p:nvSpPr>
          <p:cNvPr id="4" name="Date Placeholder 3"/>
          <p:cNvSpPr>
            <a:spLocks noGrp="1"/>
          </p:cNvSpPr>
          <p:nvPr>
            <p:ph type="dt" sz="half" idx="10"/>
          </p:nvPr>
        </p:nvSpPr>
        <p:spPr/>
        <p:txBody>
          <a:bodyPr/>
          <a:lstStyle/>
          <a:p>
            <a:fld id="{41DC93B3-07E5-4EF5-9123-7590BD47F7AF}"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a:t>
            </a:fld>
            <a:endParaRPr lang="en-US"/>
          </a:p>
        </p:txBody>
      </p:sp>
    </p:spTree>
    <p:extLst>
      <p:ext uri="{BB962C8B-B14F-4D97-AF65-F5344CB8AC3E}">
        <p14:creationId xmlns:p14="http://schemas.microsoft.com/office/powerpoint/2010/main" val="2318840032"/>
      </p:ext>
    </p:extLst>
  </p:cSld>
  <p:clrMapOvr>
    <a:masterClrMapping/>
  </p:clrMapOvr>
  <mc:AlternateContent xmlns:mc="http://schemas.openxmlformats.org/markup-compatibility/2006" xmlns:p14="http://schemas.microsoft.com/office/powerpoint/2010/main">
    <mc:Choice Requires="p14">
      <p:transition spd="slow" p14:dur="2000" advTm="37754"/>
    </mc:Choice>
    <mc:Fallback xmlns="">
      <p:transition spd="slow" advTm="3775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Instructor Information</a:t>
            </a:r>
          </a:p>
        </p:txBody>
      </p:sp>
      <p:sp>
        <p:nvSpPr>
          <p:cNvPr id="3" name="Date Placeholder 2"/>
          <p:cNvSpPr>
            <a:spLocks noGrp="1"/>
          </p:cNvSpPr>
          <p:nvPr>
            <p:ph type="dt" sz="half" idx="10"/>
          </p:nvPr>
        </p:nvSpPr>
        <p:spPr/>
        <p:txBody>
          <a:bodyPr/>
          <a:lstStyle/>
          <a:p>
            <a:fld id="{97F0DE3E-0DE2-4A50-9F86-B53B2F165077}"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2</a:t>
            </a:fld>
            <a:endParaRPr lang="en-US"/>
          </a:p>
        </p:txBody>
      </p:sp>
      <p:sp>
        <p:nvSpPr>
          <p:cNvPr id="5" name="Content Placeholder 4"/>
          <p:cNvSpPr>
            <a:spLocks noGrp="1"/>
          </p:cNvSpPr>
          <p:nvPr>
            <p:ph sz="quarter" idx="1"/>
          </p:nvPr>
        </p:nvSpPr>
        <p:spPr/>
        <p:txBody>
          <a:bodyPr>
            <a:normAutofit/>
          </a:bodyPr>
          <a:lstStyle/>
          <a:p>
            <a:r>
              <a:rPr lang="en-US" b="1" dirty="0"/>
              <a:t>Course Instructor:</a:t>
            </a:r>
            <a:r>
              <a:rPr lang="en-US" dirty="0"/>
              <a:t> </a:t>
            </a:r>
          </a:p>
          <a:p>
            <a:pPr marL="0" indent="0">
              <a:buNone/>
            </a:pPr>
            <a:r>
              <a:rPr lang="en-US" dirty="0"/>
              <a:t>			   Dr. Faheem Shaukat</a:t>
            </a:r>
            <a:br>
              <a:rPr lang="en-US" dirty="0"/>
            </a:br>
            <a:r>
              <a:rPr lang="en-US" dirty="0"/>
              <a:t>		          	   Assistant Professor</a:t>
            </a:r>
            <a:br>
              <a:rPr lang="en-US" dirty="0"/>
            </a:br>
            <a:r>
              <a:rPr lang="en-US" dirty="0"/>
              <a:t>		         	</a:t>
            </a:r>
          </a:p>
          <a:p>
            <a:r>
              <a:rPr lang="en-US" dirty="0"/>
              <a:t> </a:t>
            </a:r>
            <a:r>
              <a:rPr lang="en-US" b="1" dirty="0"/>
              <a:t>Email:</a:t>
            </a:r>
            <a:r>
              <a:rPr lang="en-US" dirty="0"/>
              <a:t> </a:t>
            </a:r>
          </a:p>
          <a:p>
            <a:pPr marL="0" indent="0">
              <a:buNone/>
            </a:pPr>
            <a:r>
              <a:rPr lang="en-US" dirty="0"/>
              <a:t>		</a:t>
            </a:r>
            <a:r>
              <a:rPr lang="en-US" dirty="0">
                <a:hlinkClick r:id="rId2"/>
              </a:rPr>
              <a:t>faheem@iqraisb.edu.pk</a:t>
            </a:r>
            <a:endParaRPr lang="en-US" dirty="0"/>
          </a:p>
          <a:p>
            <a:pPr marL="0" indent="0">
              <a:buNone/>
            </a:pPr>
            <a:endParaRPr lang="en-US" dirty="0"/>
          </a:p>
          <a:p>
            <a:r>
              <a:rPr lang="en-US" b="1" dirty="0"/>
              <a:t>Office hours:</a:t>
            </a:r>
            <a:br>
              <a:rPr lang="en-US" b="1" dirty="0"/>
            </a:br>
            <a:r>
              <a:rPr lang="en-US" b="1" dirty="0"/>
              <a:t>		</a:t>
            </a:r>
          </a:p>
          <a:p>
            <a:pPr marL="0" indent="0">
              <a:buNone/>
            </a:pPr>
            <a:r>
              <a:rPr lang="en-US" b="1" dirty="0"/>
              <a:t>		</a:t>
            </a:r>
            <a:r>
              <a:rPr lang="en-US" dirty="0"/>
              <a:t>Monday-Tuesday, 12:00 - 02:00PM</a:t>
            </a:r>
            <a:r>
              <a:rPr lang="en-US" b="1" dirty="0"/>
              <a:t> </a:t>
            </a:r>
            <a:endParaRPr lang="en-US" dirty="0"/>
          </a:p>
        </p:txBody>
      </p:sp>
    </p:spTree>
    <p:extLst>
      <p:ext uri="{BB962C8B-B14F-4D97-AF65-F5344CB8AC3E}">
        <p14:creationId xmlns:p14="http://schemas.microsoft.com/office/powerpoint/2010/main" val="3212602409"/>
      </p:ext>
    </p:extLst>
  </p:cSld>
  <p:clrMapOvr>
    <a:masterClrMapping/>
  </p:clrMapOvr>
  <mc:AlternateContent xmlns:mc="http://schemas.openxmlformats.org/markup-compatibility/2006" xmlns:p14="http://schemas.microsoft.com/office/powerpoint/2010/main">
    <mc:Choice Requires="p14">
      <p:transition spd="slow" p14:dur="2000" advTm="30660"/>
    </mc:Choice>
    <mc:Fallback xmlns="">
      <p:transition spd="slow" advTm="306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Course Information</a:t>
            </a:r>
          </a:p>
        </p:txBody>
      </p:sp>
      <p:sp>
        <p:nvSpPr>
          <p:cNvPr id="3" name="Date Placeholder 2"/>
          <p:cNvSpPr>
            <a:spLocks noGrp="1"/>
          </p:cNvSpPr>
          <p:nvPr>
            <p:ph type="dt" sz="half" idx="10"/>
          </p:nvPr>
        </p:nvSpPr>
        <p:spPr/>
        <p:txBody>
          <a:bodyPr/>
          <a:lstStyle/>
          <a:p>
            <a:fld id="{13AE82D4-4DA1-45A3-8B73-59178ED620B1}"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3</a:t>
            </a:fld>
            <a:endParaRPr lang="en-US"/>
          </a:p>
        </p:txBody>
      </p:sp>
      <p:sp>
        <p:nvSpPr>
          <p:cNvPr id="5" name="Content Placeholder 4"/>
          <p:cNvSpPr>
            <a:spLocks noGrp="1"/>
          </p:cNvSpPr>
          <p:nvPr>
            <p:ph sz="quarter" idx="1"/>
          </p:nvPr>
        </p:nvSpPr>
        <p:spPr/>
        <p:txBody>
          <a:bodyPr>
            <a:normAutofit fontScale="92500" lnSpcReduction="20000"/>
          </a:bodyPr>
          <a:lstStyle/>
          <a:p>
            <a:r>
              <a:rPr lang="en-US" b="1" u="sng" dirty="0"/>
              <a:t>Introduction</a:t>
            </a:r>
            <a:r>
              <a:rPr lang="en-US" u="sng" dirty="0"/>
              <a:t> </a:t>
            </a:r>
            <a:endParaRPr lang="en-US" dirty="0"/>
          </a:p>
          <a:p>
            <a:pPr marL="0" indent="0" algn="just">
              <a:buNone/>
            </a:pPr>
            <a:r>
              <a:rPr lang="en-US" dirty="0"/>
              <a:t>The purpose of the course is to introduce fundamental notions of software quality and the techniques used to build and check quality in software systems. A particular emphasis is placed on quantitative assessment of software quality and quality control using software testing techniques.</a:t>
            </a:r>
          </a:p>
          <a:p>
            <a:pPr marL="0" indent="0">
              <a:buNone/>
            </a:pPr>
            <a:endParaRPr lang="en-US" dirty="0"/>
          </a:p>
          <a:p>
            <a:r>
              <a:rPr lang="en-US" b="1" u="sng" dirty="0"/>
              <a:t>Learning Outcomes</a:t>
            </a:r>
            <a:endParaRPr lang="en-US" dirty="0"/>
          </a:p>
          <a:p>
            <a:pPr marL="0" indent="0" algn="just">
              <a:buNone/>
            </a:pPr>
            <a:r>
              <a:rPr lang="en-US" dirty="0"/>
              <a:t>By the end of this course, students should have a good grasp of software quality, Software Quality Assurance, Configuration management, Static Testing techniques, White box testing and Black box testing techniques, Software metrics and models, Debugging, Quality Management, Process Improvement and Cleanroom Software Engineering.</a:t>
            </a:r>
          </a:p>
        </p:txBody>
      </p:sp>
    </p:spTree>
    <p:extLst>
      <p:ext uri="{BB962C8B-B14F-4D97-AF65-F5344CB8AC3E}">
        <p14:creationId xmlns:p14="http://schemas.microsoft.com/office/powerpoint/2010/main" val="3567441877"/>
      </p:ext>
    </p:extLst>
  </p:cSld>
  <p:clrMapOvr>
    <a:masterClrMapping/>
  </p:clrMapOvr>
  <mc:AlternateContent xmlns:mc="http://schemas.openxmlformats.org/markup-compatibility/2006" xmlns:p14="http://schemas.microsoft.com/office/powerpoint/2010/main">
    <mc:Choice Requires="p14">
      <p:transition spd="slow" p14:dur="2000" advTm="177038"/>
    </mc:Choice>
    <mc:Fallback xmlns="">
      <p:transition spd="slow" advTm="17703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914400" y="274638"/>
            <a:ext cx="7772400" cy="712788"/>
          </a:xfrm>
        </p:spPr>
        <p:txBody>
          <a:bodyPr>
            <a:normAutofit fontScale="90000"/>
          </a:bodyPr>
          <a:lstStyle/>
          <a:p>
            <a:r>
              <a:rPr lang="en-GB" altLang="en-US" dirty="0"/>
              <a:t>Books and Resources</a:t>
            </a:r>
            <a:endParaRPr lang="cy-GB" altLang="en-US" dirty="0"/>
          </a:p>
        </p:txBody>
      </p:sp>
      <p:sp>
        <p:nvSpPr>
          <p:cNvPr id="3" name="Content Placeholder 2"/>
          <p:cNvSpPr>
            <a:spLocks noGrp="1"/>
          </p:cNvSpPr>
          <p:nvPr>
            <p:ph idx="1"/>
          </p:nvPr>
        </p:nvSpPr>
        <p:spPr>
          <a:xfrm>
            <a:off x="457200" y="987426"/>
            <a:ext cx="8229600" cy="5375274"/>
          </a:xfrm>
        </p:spPr>
        <p:txBody>
          <a:bodyPr>
            <a:normAutofit lnSpcReduction="10000"/>
          </a:bodyPr>
          <a:lstStyle/>
          <a:p>
            <a:pPr lvl="1">
              <a:defRPr/>
            </a:pPr>
            <a:r>
              <a:rPr lang="en-GB" sz="2400" b="1" dirty="0"/>
              <a:t>Software Quality Engineering, </a:t>
            </a:r>
            <a:r>
              <a:rPr lang="en-GB" sz="2400" dirty="0"/>
              <a:t>6</a:t>
            </a:r>
            <a:r>
              <a:rPr lang="en-GB" sz="2400" baseline="30000" dirty="0"/>
              <a:t>th</a:t>
            </a:r>
            <a:r>
              <a:rPr lang="en-GB" sz="2400" dirty="0"/>
              <a:t> Edition by </a:t>
            </a:r>
            <a:r>
              <a:rPr lang="en-GB" sz="2400" i="1" dirty="0"/>
              <a:t>Jeff Tian</a:t>
            </a:r>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marL="457200" lvl="1" indent="0">
              <a:buFont typeface="Monotype Sorts" pitchFamily="-84" charset="2"/>
              <a:buNone/>
              <a:defRPr/>
            </a:pPr>
            <a:endParaRPr lang="en-GB" dirty="0"/>
          </a:p>
          <a:p>
            <a:pPr lvl="1">
              <a:defRPr/>
            </a:pPr>
            <a:r>
              <a:rPr lang="cy-GB" sz="2400" b="1" dirty="0"/>
              <a:t>Software Engineering, A practitioner’s approach</a:t>
            </a:r>
            <a:r>
              <a:rPr lang="cy-GB" sz="2400" dirty="0"/>
              <a:t>, </a:t>
            </a:r>
            <a:r>
              <a:rPr lang="en-GB" sz="2400" dirty="0"/>
              <a:t>8</a:t>
            </a:r>
            <a:r>
              <a:rPr lang="en-GB" sz="2400" baseline="30000" dirty="0"/>
              <a:t>th</a:t>
            </a:r>
            <a:r>
              <a:rPr lang="en-GB" sz="2400" dirty="0"/>
              <a:t> </a:t>
            </a:r>
            <a:r>
              <a:rPr lang="cy-GB" sz="2400" dirty="0"/>
              <a:t>Edition by </a:t>
            </a:r>
            <a:r>
              <a:rPr lang="cy-GB" sz="2400" i="1" dirty="0"/>
              <a:t>Roger S. Pressman</a:t>
            </a:r>
          </a:p>
        </p:txBody>
      </p:sp>
      <p:pic>
        <p:nvPicPr>
          <p:cNvPr id="2" name="Picture 1"/>
          <p:cNvPicPr>
            <a:picLocks noChangeAspect="1"/>
          </p:cNvPicPr>
          <p:nvPr/>
        </p:nvPicPr>
        <p:blipFill>
          <a:blip r:embed="rId2"/>
          <a:stretch>
            <a:fillRect/>
          </a:stretch>
        </p:blipFill>
        <p:spPr>
          <a:xfrm>
            <a:off x="2083047" y="1557339"/>
            <a:ext cx="2597120" cy="3548061"/>
          </a:xfrm>
          <a:prstGeom prst="rect">
            <a:avLst/>
          </a:prstGeom>
        </p:spPr>
      </p:pic>
      <p:pic>
        <p:nvPicPr>
          <p:cNvPr id="11271" name="Picture 7" descr="http://ecx.images-amazon.com/images/I/517ARoAGIgL._SX258_BO1,204,203,200_.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463" y="1557339"/>
            <a:ext cx="3014705" cy="354806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xmlns:iact="http://schemas.microsoft.com/office/powerpoint/2014/inkAction">
        <mc:Choice Requires="p14 iact">
          <p:contentPart p14:bwMode="auto" r:id="rId4">
            <p14:nvContentPartPr>
              <p14:cNvPr id="4" name="Ink 3">
                <a:extLst>
                  <a:ext uri="{FF2B5EF4-FFF2-40B4-BE49-F238E27FC236}">
                    <a16:creationId xmlns:a16="http://schemas.microsoft.com/office/drawing/2014/main" id="{134F8A06-B3F2-4A09-8E05-179335220FF7}"/>
                  </a:ext>
                </a:extLst>
              </p14:cNvPr>
              <p14:cNvContentPartPr/>
              <p14:nvPr>
                <p:extLst>
                  <p:ext uri="{42D2F446-02D8-4167-A562-619A0277C38B}">
                    <p15:isNarration xmlns:p15="http://schemas.microsoft.com/office/powerpoint/2012/main" val="1"/>
                  </p:ext>
                </p:extLst>
              </p14:nvPr>
            </p14:nvContentPartPr>
            <p14:xfrm>
              <a:off x="2276640" y="3391560"/>
              <a:ext cx="2152080" cy="188280"/>
            </p14:xfrm>
          </p:contentPart>
        </mc:Choice>
        <mc:Fallback xmlns="">
          <p:pic>
            <p:nvPicPr>
              <p:cNvPr id="4" name="Ink 3">
                <a:extLst>
                  <a:ext uri="{FF2B5EF4-FFF2-40B4-BE49-F238E27FC236}">
                    <a16:creationId xmlns:a16="http://schemas.microsoft.com/office/drawing/2014/main" id="{134F8A06-B3F2-4A09-8E05-179335220FF7}"/>
                  </a:ext>
                </a:extLst>
              </p:cNvPr>
              <p:cNvPicPr>
                <a:picLocks noGrp="1" noRot="1" noChangeAspect="1" noMove="1" noResize="1" noEditPoints="1" noAdjustHandles="1" noChangeArrowheads="1" noChangeShapeType="1"/>
              </p:cNvPicPr>
              <p:nvPr/>
            </p:nvPicPr>
            <p:blipFill>
              <a:blip r:embed="rId7"/>
              <a:stretch>
                <a:fillRect/>
              </a:stretch>
            </p:blipFill>
            <p:spPr>
              <a:xfrm>
                <a:off x="2260800" y="3328200"/>
                <a:ext cx="2183400" cy="3150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28106"/>
    </mc:Choice>
    <mc:Fallback xmlns="">
      <p:transition spd="slow" advTm="281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 Books</a:t>
            </a:r>
          </a:p>
        </p:txBody>
      </p:sp>
      <p:sp>
        <p:nvSpPr>
          <p:cNvPr id="3" name="Date Placeholder 2"/>
          <p:cNvSpPr>
            <a:spLocks noGrp="1"/>
          </p:cNvSpPr>
          <p:nvPr>
            <p:ph type="dt" sz="half" idx="10"/>
          </p:nvPr>
        </p:nvSpPr>
        <p:spPr/>
        <p:txBody>
          <a:bodyPr/>
          <a:lstStyle/>
          <a:p>
            <a:fld id="{A0673512-393F-44B0-BB02-5DC3D181F1C1}" type="datetime1">
              <a:rPr lang="en-US" smtClean="0"/>
              <a:t>17-Feb-26</a:t>
            </a:fld>
            <a:endParaRPr lang="en-US" dirty="0"/>
          </a:p>
        </p:txBody>
      </p:sp>
      <p:sp>
        <p:nvSpPr>
          <p:cNvPr id="4" name="Slide Number Placeholder 3"/>
          <p:cNvSpPr>
            <a:spLocks noGrp="1"/>
          </p:cNvSpPr>
          <p:nvPr>
            <p:ph type="sldNum" sz="quarter" idx="12"/>
          </p:nvPr>
        </p:nvSpPr>
        <p:spPr/>
        <p:txBody>
          <a:bodyPr/>
          <a:lstStyle/>
          <a:p>
            <a:fld id="{DAA5790D-B666-475A-A6BE-B57286F24B7C}" type="slidenum">
              <a:rPr lang="en-US" smtClean="0"/>
              <a:t>5</a:t>
            </a:fld>
            <a:endParaRPr lang="en-US"/>
          </a:p>
        </p:txBody>
      </p:sp>
      <p:sp>
        <p:nvSpPr>
          <p:cNvPr id="5" name="Content Placeholder 4"/>
          <p:cNvSpPr>
            <a:spLocks noGrp="1"/>
          </p:cNvSpPr>
          <p:nvPr>
            <p:ph sz="quarter" idx="1"/>
          </p:nvPr>
        </p:nvSpPr>
        <p:spPr/>
        <p:txBody>
          <a:bodyPr>
            <a:normAutofit lnSpcReduction="10000"/>
          </a:bodyPr>
          <a:lstStyle/>
          <a:p>
            <a:r>
              <a:rPr lang="en-US" b="1" u="sng" dirty="0"/>
              <a:t>Recommended Text Books</a:t>
            </a:r>
            <a:endParaRPr lang="en-US" dirty="0"/>
          </a:p>
          <a:p>
            <a:pPr marL="0" lvl="0" indent="0">
              <a:buNone/>
            </a:pPr>
            <a:r>
              <a:rPr lang="en-US" i="1" dirty="0"/>
              <a:t>	Software Quality Engineering by Jeff  </a:t>
            </a:r>
            <a:r>
              <a:rPr lang="en-US" i="1" dirty="0" err="1"/>
              <a:t>Tian</a:t>
            </a:r>
            <a:r>
              <a:rPr lang="en-US" i="1" dirty="0"/>
              <a:t>, </a:t>
            </a:r>
          </a:p>
          <a:p>
            <a:pPr marL="0" lvl="0" indent="0">
              <a:buNone/>
            </a:pPr>
            <a:r>
              <a:rPr lang="en-US" i="1" dirty="0"/>
              <a:t>	ISBN# 0471713457</a:t>
            </a:r>
            <a:endParaRPr lang="en-US" dirty="0"/>
          </a:p>
          <a:p>
            <a:r>
              <a:rPr lang="en-US" b="1" u="sng" dirty="0"/>
              <a:t>Reference Books</a:t>
            </a:r>
            <a:endParaRPr lang="en-US" dirty="0"/>
          </a:p>
          <a:p>
            <a:pPr marL="514350" lvl="0" indent="-514350">
              <a:buFont typeface="+mj-lt"/>
              <a:buAutoNum type="arabicPeriod"/>
            </a:pPr>
            <a:r>
              <a:rPr lang="en-US" i="1" dirty="0"/>
              <a:t>Software Testing &amp; Continuous quality improvement (2nd Edition) by William Lewis ISBN# 1420080733</a:t>
            </a:r>
            <a:endParaRPr lang="en-US" dirty="0"/>
          </a:p>
          <a:p>
            <a:pPr marL="514350" lvl="0" indent="-514350">
              <a:buFont typeface="+mj-lt"/>
              <a:buAutoNum type="arabicPeriod"/>
            </a:pPr>
            <a:r>
              <a:rPr lang="en-US" i="1" dirty="0"/>
              <a:t>The Art of Software Testing (2nd Edition) </a:t>
            </a:r>
            <a:r>
              <a:rPr lang="en-US" i="1" dirty="0" err="1"/>
              <a:t>Glenford</a:t>
            </a:r>
            <a:r>
              <a:rPr lang="en-US" i="1" dirty="0"/>
              <a:t> Myers ISBN# 0471043281</a:t>
            </a:r>
            <a:endParaRPr lang="en-US" dirty="0"/>
          </a:p>
          <a:p>
            <a:pPr marL="514350" indent="-514350">
              <a:buFont typeface="+mj-lt"/>
              <a:buAutoNum type="arabicPeriod"/>
            </a:pPr>
            <a:r>
              <a:rPr lang="en-US" i="1" dirty="0"/>
              <a:t>Software Testing and Quality Assurance, Theory and Practice: 2008, </a:t>
            </a:r>
            <a:r>
              <a:rPr lang="en-US" i="1" dirty="0" err="1"/>
              <a:t>Kshirasagar</a:t>
            </a:r>
            <a:r>
              <a:rPr lang="en-US" i="1" dirty="0"/>
              <a:t> </a:t>
            </a:r>
            <a:r>
              <a:rPr lang="en-US" i="1" dirty="0" err="1"/>
              <a:t>Naik</a:t>
            </a:r>
            <a:r>
              <a:rPr lang="en-US" i="1" dirty="0"/>
              <a:t>, </a:t>
            </a:r>
            <a:r>
              <a:rPr lang="en-US" i="1" dirty="0" err="1"/>
              <a:t>Priyadarshi</a:t>
            </a:r>
            <a:r>
              <a:rPr lang="en-US" i="1" dirty="0"/>
              <a:t> </a:t>
            </a:r>
            <a:r>
              <a:rPr lang="en-US" i="1" dirty="0" err="1"/>
              <a:t>Tripathy</a:t>
            </a:r>
            <a:r>
              <a:rPr lang="en-US" i="1" dirty="0"/>
              <a:t> </a:t>
            </a:r>
          </a:p>
          <a:p>
            <a:pPr marL="0" indent="0">
              <a:buNone/>
            </a:pPr>
            <a:r>
              <a:rPr lang="en-US" i="1" dirty="0"/>
              <a:t>       ISBN# 0471789119</a:t>
            </a:r>
            <a:endParaRPr lang="en-US" dirty="0"/>
          </a:p>
        </p:txBody>
      </p:sp>
    </p:spTree>
    <p:extLst>
      <p:ext uri="{BB962C8B-B14F-4D97-AF65-F5344CB8AC3E}">
        <p14:creationId xmlns:p14="http://schemas.microsoft.com/office/powerpoint/2010/main" val="4291301423"/>
      </p:ext>
    </p:extLst>
  </p:cSld>
  <p:clrMapOvr>
    <a:masterClrMapping/>
  </p:clrMapOvr>
  <mc:AlternateContent xmlns:mc="http://schemas.openxmlformats.org/markup-compatibility/2006" xmlns:p14="http://schemas.microsoft.com/office/powerpoint/2010/main">
    <mc:Choice Requires="p14">
      <p:transition spd="slow" p14:dur="2000" advTm="17355"/>
    </mc:Choice>
    <mc:Fallback xmlns="">
      <p:transition spd="slow" advTm="1735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Links and Reference Material</a:t>
            </a:r>
          </a:p>
        </p:txBody>
      </p:sp>
      <p:sp>
        <p:nvSpPr>
          <p:cNvPr id="3" name="Date Placeholder 2"/>
          <p:cNvSpPr>
            <a:spLocks noGrp="1"/>
          </p:cNvSpPr>
          <p:nvPr>
            <p:ph type="dt" sz="half" idx="10"/>
          </p:nvPr>
        </p:nvSpPr>
        <p:spPr/>
        <p:txBody>
          <a:bodyPr/>
          <a:lstStyle/>
          <a:p>
            <a:fld id="{13E4EF21-14AE-4E66-BA8B-18F8ADFB589D}"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6</a:t>
            </a:fld>
            <a:endParaRPr lang="en-US"/>
          </a:p>
        </p:txBody>
      </p:sp>
      <p:sp>
        <p:nvSpPr>
          <p:cNvPr id="5" name="Content Placeholder 4"/>
          <p:cNvSpPr>
            <a:spLocks noGrp="1"/>
          </p:cNvSpPr>
          <p:nvPr>
            <p:ph sz="quarter" idx="1"/>
          </p:nvPr>
        </p:nvSpPr>
        <p:spPr/>
        <p:txBody>
          <a:bodyPr/>
          <a:lstStyle/>
          <a:p>
            <a:r>
              <a:rPr lang="en-US" dirty="0">
                <a:hlinkClick r:id="rId2"/>
              </a:rPr>
              <a:t>http://www.onestoptesting.com/</a:t>
            </a:r>
            <a:endParaRPr lang="en-US" dirty="0"/>
          </a:p>
          <a:p>
            <a:r>
              <a:rPr lang="en-US" dirty="0">
                <a:hlinkClick r:id="rId3"/>
              </a:rPr>
              <a:t>http://www.qastreet.com/</a:t>
            </a:r>
            <a:endParaRPr lang="en-US" dirty="0"/>
          </a:p>
          <a:p>
            <a:r>
              <a:rPr lang="en-US" dirty="0">
                <a:hlinkClick r:id="rId4"/>
              </a:rPr>
              <a:t>http://www.computer.org</a:t>
            </a:r>
            <a:endParaRPr lang="en-US" dirty="0"/>
          </a:p>
          <a:p>
            <a:r>
              <a:rPr lang="en-US" dirty="0">
                <a:hlinkClick r:id="rId5"/>
              </a:rPr>
              <a:t>http://www.springer.com</a:t>
            </a:r>
            <a:endParaRPr lang="en-US" dirty="0"/>
          </a:p>
          <a:p>
            <a:r>
              <a:rPr lang="en-US" dirty="0">
                <a:hlinkClick r:id="rId6"/>
              </a:rPr>
              <a:t>http://portal.acm.org</a:t>
            </a:r>
            <a:endParaRPr lang="en-US" dirty="0"/>
          </a:p>
          <a:p>
            <a:endParaRPr lang="en-US" dirty="0"/>
          </a:p>
        </p:txBody>
      </p:sp>
      <p:pic>
        <p:nvPicPr>
          <p:cNvPr id="1026" name="Picture 2" descr="http://www.discoversolarenergy.com/images/ref-logo-.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2895600"/>
            <a:ext cx="2457450" cy="170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930552"/>
      </p:ext>
    </p:extLst>
  </p:cSld>
  <p:clrMapOvr>
    <a:masterClrMapping/>
  </p:clrMapOvr>
  <mc:AlternateContent xmlns:mc="http://schemas.openxmlformats.org/markup-compatibility/2006" xmlns:p14="http://schemas.microsoft.com/office/powerpoint/2010/main">
    <mc:Choice Requires="p14">
      <p:transition spd="slow" p14:dur="2000" advTm="28129"/>
    </mc:Choice>
    <mc:Fallback xmlns="">
      <p:transition spd="slow" advTm="2812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Grading Criteria</a:t>
            </a:r>
          </a:p>
        </p:txBody>
      </p:sp>
      <p:sp>
        <p:nvSpPr>
          <p:cNvPr id="3" name="Date Placeholder 2"/>
          <p:cNvSpPr>
            <a:spLocks noGrp="1"/>
          </p:cNvSpPr>
          <p:nvPr>
            <p:ph type="dt" sz="half" idx="10"/>
          </p:nvPr>
        </p:nvSpPr>
        <p:spPr/>
        <p:txBody>
          <a:bodyPr/>
          <a:lstStyle/>
          <a:p>
            <a:fld id="{698E47DB-E676-4CA5-9CCA-26A3D048BF01}"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7</a:t>
            </a:fld>
            <a:endParaRPr lang="en-US"/>
          </a:p>
        </p:txBody>
      </p:sp>
      <p:sp>
        <p:nvSpPr>
          <p:cNvPr id="5" name="Content Placeholder 4"/>
          <p:cNvSpPr>
            <a:spLocks noGrp="1"/>
          </p:cNvSpPr>
          <p:nvPr>
            <p:ph sz="quarter" idx="1"/>
          </p:nvPr>
        </p:nvSpPr>
        <p:spPr/>
        <p:txBody>
          <a:bodyPr/>
          <a:lstStyle/>
          <a:p>
            <a:r>
              <a:rPr lang="en-US" dirty="0"/>
              <a:t>Grading</a:t>
            </a:r>
          </a:p>
          <a:p>
            <a:pPr lvl="1"/>
            <a:r>
              <a:rPr lang="en-US" dirty="0"/>
              <a:t>Mid Terms - 25%</a:t>
            </a:r>
          </a:p>
          <a:p>
            <a:pPr lvl="1"/>
            <a:r>
              <a:rPr lang="en-US" dirty="0"/>
              <a:t>Final Term - 40%</a:t>
            </a:r>
          </a:p>
          <a:p>
            <a:pPr lvl="1"/>
            <a:r>
              <a:rPr lang="en-US" dirty="0"/>
              <a:t>Quiz - 10 %</a:t>
            </a:r>
          </a:p>
          <a:p>
            <a:pPr lvl="1"/>
            <a:r>
              <a:rPr lang="en-US" dirty="0"/>
              <a:t>Assignment - 10 %</a:t>
            </a:r>
          </a:p>
          <a:p>
            <a:pPr lvl="1"/>
            <a:r>
              <a:rPr lang="en-US" dirty="0"/>
              <a:t>Semester Project - 15%</a:t>
            </a:r>
          </a:p>
        </p:txBody>
      </p:sp>
      <p:sp>
        <p:nvSpPr>
          <p:cNvPr id="6" name="AutoShape 2" descr="data:image/jpeg;base64,/9j/4AAQSkZJRgABAQAAAQABAAD/2wCEAAkGBhQPEBUUEBQWFBQVGRcVFRcXGRUfFRgVFxYXFhgYHBgaGyYeGB0jHRYWIC8gJCgpLC0sFx4xNzAqNSYsLCkBCQoKDgwOGg8PGiolHyUrNDEuMy0tKTAsLjYvLCo0LCwwKSwsLC8sKSwvLCwqLCksLCwtKSwtLSwsLCwsLCwsLP/AABEIANsA5wMBIgACEQEDEQH/xAAcAAEAAwADAQEAAAAAAAAAAAAABQYHAQMEAgj/xABEEAACAQMCAwYDBgMFBwMFAAABAgMABBESIQUGMQcTIkFRYTJxgRQjQlKRoTNysRUlYoLBJKKys9HS4TVDkxYXU1Sj/8QAGwEAAgMBAQEAAAAAAAAAAAAAAAQCAwUBBgf/xAA4EQABAwIEAwYGAAUEAwAAAAABAAIDBBESITFRQWGRBRNxobHRFCIygcHwIyRi4fEGQlKyM0Oi/9oADAMBAAIRAxEAPwDcaUr5d9IJPQDJ+lCF9VxmqpL2j26xPKwYKBmINhXmXYalUnIXJG5xnfHSo3gMl9xRna7XurKVGQRjAfGQQykrqPTGo4BByB0qoytvYZlPtoJQwySfK0b8eQHEqwcb53tLMlZZQXH4E8T/AFA2X64rPuae1d5SFsS0SFcMWCa8kg7bnTgZH1PsauNj2XWUUmso0mPwyNlM+pGBn65FWWLhsSABI0UDoAqgfoBVTmTPFiQPBOw1HZ9M4Oax0h/qsB0z81hXL/MskEne97cNJnDEYcGMkFh4zsxA671o9l2u2Tjx97Gf8S5H0KE/6VdRGB0AqB4jyJZXExmlhDOcZ8TgEjoSqkAmuNhkjHyuB8VdN2hRVj8U8Tm7FpF/CxAy9F38J5wtLshYJ1ZmzhDlXOOvhYA+VTOayHtA5Wt7Rw8Ec0GAGDqC0GoHpq1ao26HPT0HnXr5e51u4Gi+1Ms1m7aPtGD4egGp9tJBIyHGetAnLXYXjooydkskiE9K4kHg7I+AIyJ5arU6V47fisUkrxI4aSMKXUdQHGVPpuN/qPWvZTQN1gFpbkQlKUrq4lKUoQlKUoQlKUoQlKUoQlKUoQlKUoQlKUoQlKUoQui9vEhjaSRtKICzH0A61ROKdrsPduLVHebUUjDDwnph9jkg52X4vI4r47WOKSBRACBCya5tt9nHdgHyJYdPYnoDXk7KeTwQLyYZ3IgUjpjYyfPOQPkT6YTkke6Tu2fdejpKKmiozWVOefygHXkfzyUJyjwK6vr7vplJ0PqlkmU4yCcqFOAW8gMYXHQYFbUKAVyauhiEYte6ze0K91a8OLQ0AWAHBcE0DVjva3amK7VhJK3erqKsfAuMKAgHQbdPf3qE5E4gYuI25ZjpL6DuceNSg/dhVDqvDJgIWrF2AZaP4psn+0m1tuGvLZb9SuKU6vMr5liDKVYZBBBHkQdjUHw/kuC3LCEEQyKVlhYlo3OwD+IkhgARt1zv0FT9KiWg5lWsmewFrSQDr+8uGyy7mzlufhsy3tiAIolRGRdWoRooU68k94pAwT1AAPlkaFwLjKXluk0XwuOh6qw2Kn3ByK9rqCCCMg7H0xVJivl4ReRWgAW1n7x1YndZGYYU/lQYwPXUPQ1Th7p1+B9VpGV1dEIyLyMGR3aASQdyOH3V4pXGa5phZCUpShCUpShCUpShCUpShCUpShCUpShCUpShCUpShCzDtWka4urWzQ7t4seWqRtCn6BW/WtHsLNYIkjjGFRQqj2AxUBdy21xxSGMrruLdHlLA7Rg6VCsPxHxAgeWx86swqiNvzudutOrnJp4YLEBoJ8SSc+mi5ry8U4gtvDJK/wxqWP0GcfXpXqqidsHEu7sVjHWVwD/ACoNR/cLU5H4GFyXoqf4moZFufLj5Kr9p94biOwnYaTLCzkDoM922M/5qosUpRgynDKQyn0IOQf1rR+1eIJbWKeaqwA9gkY/6Vm1Y1TlKft6L6X2GWuoWgDK7umIr9LcNvRPDHKvSRFcfJlB/wBa9FQnI5H9nW2Dn7pf18x9Dt9Km81ttN2gr5fOwMlcwcCR5qP4/wAdjsYTNNq0AgeEZOScDzr2wTB0VhnDAMMjBwRnceVVbtTb+65vdogf/lT/AMVYeEyareInqY0J+ZUVEOOMt5e6tdC0UzZeJcR0DbepXrrK+1iynnu4o411p3LSKoC6sqW7wgnc+HR4Qd8dK1SvFe8IjmkildcvCWMZz01qVYe4I8vYVyaPvG4VZ2dV/Bzia17A+mSrfJHNgmitYi2tmR0dzqyJYgjBDqHiJjYnUPNTVyrKOyW2Bmmil3aBhJGM4IfTJDI3uNJAwdulavUadxcwEq7teBkFU5jPHrn6EBKUpV6ykpSlCEpSlCEpSlCEpSlCEpSlCEpSlCEpSlCFQOB8Yij4pxKSbSgRU1PnbTGdBOOuSCmwzuPcVfUcMARuDuPkap0vJLPxKW5BWONo9IGNYkkdSrF1Y4wp0nT0OB03qz8LuVeMaZFlKeB3UAAuuzbDYb+VUxYhcHc+q0q8xPLXxm/ytB5WaBby35WyK9lZj2mQfauI2Vt1z1A66ZJAGP6IT9K00msy4DdDiHHpZeqQo6xn+XEYP11Ow+dRqMwGblX9kXje+oH+xhP3IsPVe/tislazjkOzJIFU4J8LqcjI+EeFTv8Alx51j9Xocj8RlkkgnmkWJVLa5HdoW0kafxbHz3G2KqfGuDm0l7t5I5GABJibUoz5E4G/t7isypxOdjw2XtuxHRQxfDCUPOuWxWtdknEe8sO784XZf8reMf8AER9K+5IeM94xV7UpltIOfhydPRc5xjr6VVexu/03UsXlJHq+qMB/Rz+la7WhB/Eibmcl5Htb+TrpQGtIdnmL655fe6yznaLia2Mn2x7doSUDd3q151qVx4QOoFSVonG1jjCfZgoVQOmcADGfp6VJdqrf3a4/M8Y8sfGDuT06VZuGIwgjEnxhEDfzaRn96BF/EIudBx8Vx1bakY7u2Zudlh5Nzt+8FXeBnivfr9rFv3O4fT8fQ4I+uPSrXSlMtbhFrrFnm712LCB4CwWadn12X4tfaAFjYyMRjfIlwpz1HViR6mtMrP8As9j18Q4lLgAd6UGOn8SQn9cA/WtAqqn+j7n1Wh2uQanL/i3/AKhKUpV6yUpSlCEpSlCEpSlCEpSlCEpSlCEpSlCEpSlCFUu0LmC4sYY5LdQV14lJGcLtgf4dW4zio/kni6rdzx5AjumNzat0Vwc94o9GXoV65VqsvMnB2uogqMAQQSjbxyL+JHGOhHRhuDg1l0fDmgvJOHySmMKxkspDkFZjgx4b8rjwkdNQ2weqcpcx4dw/fX1Xo6COGopXRZBwBJ3tcZ+LT/8AJPFaPz9xk2lhK6nDtiNPUM+2R7gaj9KzvsgvVjvWRjgyRkL7spDY+eAT9KvbcKXjFhEt2JI3UgvgaGEyAoxAIIK7tj51Ajsd7uVXgu2TSQwJQFwQc5DBgM/SoytkdI17RkFbRT0cVHLSzOwvcTnYkZaac1eOP3ncWs8nXRG7Y9SFOB+tfnACv0bzFwpru1kgV9BkAXURnG4J2BHUA/rWef8A2Vf/APaX/wCM/wDfUauKSQjCFf8A6e7QpaON/fOsSdjoPAc1X+zS8SLiMZkbTqyi7bFnGACc7b49a3Ws0u+xgawYLlkAA+NQzhgeoKlceXl9a0iFCqgEliAASepIHU/OraVj42lrgke3qqnq5WzQOvcWIta1tF4+OcEjvYTFNnQSCdJwfCcjevZBCERVXooCj5AYFfdKasL3WCXuLQy+Q4JUDznzQvDrYybGRvDEp82PmfYAE/t51NXFysaF5GCKoyzMQFA9STsK/O/O3NTX19I0fjUHRGMZAQfDgf4t239fpQWPf8rNdzoOZTlDHE5+Oa+FvAC5ceDQNz6ArUeKcfewsg9rDbG4JiN2S0ccSO8Yd2bLLqJyMAHPiz7Guy9qN5byMZpOHOGIxGksrNHgAEFokbPQnfJy3p06uFdjc94BNxK5ZWfxFFGqQEgYy7HSpwACApxgDO1TF72GWpVRDLImM62bxO3TTjoi4wc+E51e1acQpo24HkE7gH19gsud8j3lzR1KsPD+1Dh07qkdx4mZVUMkq5ZsAAFlA6kD51NDmC2JQCeHMmdH3iePGAdO/ixkdPWsc4V2HXchH2mSGJTjIUs7gHqMaQuRt54NWiy7DLTuis7OZCzfeREqCpPh8DalBA2+lRlhpWn5Xnpf2UGPlOrVpWa5rJePcscR4NEH4bd3E8IYBoWQSMo3OQNJ8GwBChcZqQ5L7Y47p1gvVEExOkOD90zdMHO8bE5AByM7ZztVRpXFuOM4h59FPvBezslpVK4zXNKK1KUpQhKUpQhKUpQhcVzSlCEpSlCEqq868iLxMxN3ndMmQTpzqQ746jcEbfM1aqVFzA8Wcr4KiSnkEkRsQqBy/wA2SpxI2U5bu1Xu42lAErumAHztkPhiOufD71fs15LvhUUranRS+lkD4GsKwwQG6jr5VmlyvEOByaIZFntmz3ayEHCgDbTkMpHTw+E9cb4pdzzALvzG+y0Wwx9oOtFZj7DI6OOdyDwPIrV8157q+SIZkdUGM7kDYY/XqP1rPbztVLINASJsDXkliG8wFwOh9QflUHxnmMSFDNcCbwkqUAOkk/CVwpU7A5x6UtL2gACImknoPNWwdh1DnDvRYdT5Zea1Ph3McFwxWJ8keRBGc56asZ6GpKsHs+cTGwKakxnBGMjPXHz+dWSDtFmUZM8bY8mC5/RcGqou0jh/itN+Qy9UxVf6fmY7+Hpz18gtUry8T4nHbRPLMwVI1LMT6D09SegHrVA4r2izPaEQJiZukiEaQuQcgEnJxkfvWZXdpc3lx3MsgMr/AHkhd8iKNAX1ynoAFJbGdgQNicVqUcrat+GPTjyHgsuegdTQmSc4ToBqSfwP2ytHGuMXnMsYW2t2ihh1NLmQd27ZygyVALqBnTvu3lsanuzrgbzSJI8RitbcZgRgfHKw/inIGs4ydWMDIxjFSHZrw8zf7SEaK1WIW9lGcgtH1lndc4JlbBycnA98nQAuOlN1Yu8MGTW8Pc8ktS1PcxPAaMTha+2t7Dne19lDca5ytLJ1S5nVHYAhMMz4JwDpUEgEg7n0qLvO1Xh8MjpJK6sjFGzBcYDDqM93Vf7V+THeROI2yh3gCmaM760ibWGA88bhl816bjBzvmbtDn4glwkwAjmEQVFJ0xd0+vUNvEzbgnbY+wFO09GyZocLnfMC3ks58pYbFbve852kMUMkkpC3Ch4QEkMkikBsrGqlzsyk7bZ3qRh4pE7hA47woJAh2k0HoxQ+IfUbVT+J8GYx2vEbgNDNw+KR2gQLIpUKRIo8S5JVfCc7bdayPmzm0XfEPtlqjWzgJg5Hea0yuskbZ06VxuMLvnNVw0gmyad77X4DpxXXzYNV+lqhOZOT7biMZS5iB6lXGBIpOMkN74GQdjjcGvjkbmI8RsIZ2ADsCsgHTvEYo5AzsCRkexFT1J/NE+2hCuycFh/NX27h/d2U92REXL2d1kh10rp0SsPGi4k0lhuMk7rlRpHIHMEl1bGO68N3bnurhTp1auqOdO2GXByNs6sdK9fOnLa8RspYCBrIJiJ/DKN1PsM7H2JrI+SeItBdd7JriubRWF6r5++tdSJqb0khDKc48SqpzWgMNRCcgHD96HQ87HdU/Q7kt5pXANc1lphKUpQhKUpQhKUpQhKUpQhK+JplRSzEKo3JJwAPcmvqs9544s0svcgELG2NjnWxVT0x5Zx9aVq6kU8eO1zwTdHSmpkwA23UnzpxuNdKIxZ1OrSD92OhBfHxeoX9a++WOCrcL9puQZZG6awNOBsCF8/mfoPM93AuTIo4h36B5Dhjnovoo9ff1qzKuOlLRU8ksnezWtwbt480zNURxR9zBe/F2/hyVA555aaS4R4rGO4VhlyrGOTWD+JgwDAjGNs7HfpVFn4QhlUNaTW66tL/AH6krhtJIVo9RAwfXPrWv81cd+yQ+H+I+ye3q30/qRVO4bwuG60653+0yltsZAI38R67gZG4peseBJ3cdi7na3+TtdbXZtbLHAHPuGjIEF9+OdgbWG9l5YeTuG27RvLLPIrYkRSq6SoOMMAuTuD6bVYeHcr8Kusd1EpKZ2zIGOfUEguNvPIFe/i/JiSQKsZYPEmlCTs25OG+ZJ3FUTh4Kzx5ypEig+oOoA1VLPJTSBr2Nwn9KiyR1bG57Z34hz8bZC3BXC95J0Pm3AaLcvE56+yNjwnBO+Rvj1NVXj/JqWiOJPF9qKh9OpWaKPxmMkEhPw5wfFpz0Wrj2ncW+y8LncassBGCjFWUyMEDBgDjGc+WcYyM1xyXxC4mULdsxdYITIpiAjLSamDLIPjbTgMBsCNq2m0AYwyxHCTll9j0vbLRee+Pe5wbKMQG/H+/PVT3B71JoUeIYXAAXbw4207dMdK9tVmCNeHT6R/BuXGnyWNsNkfU6QPb5b2auQyFws/6hr+89VXPG1rrs+k6fvLRQ3OU/d8Ou2HVbeYj5922K/PfKaWHeH+02mCDGkRg6D66yvj9MBR65PlW69p1yI+EXZPnHo+sjLGP3avzdXo+zWYonZkXPBZNU7C4L9UfbY7q0MkLB45I2KsOhBU+vT5GvypB8K/If0rbeTuYI7HltZJWUbXKxKSAZJDNNpRfUk/tk+VYzY2TyskUStI7YVFUZZjjyH0J9gCas7PZ3ZkHAG3S65UnEG7reOxVccKB9ZZSPo2n+qmr7VW7M+DS2fDIorhO7lDSllJUkapnZd1JHwkHr51aaxqgh0riNynWCzQEqk818PtrG7XikzmNNBt7hRGXWVXwELAdMEAEnOQFFXaqN2zFf7IlDZ8TxBcfm7xT+mA36UU+cgbvkfuh9sN1d42BAI6EAj5V9VWOF82QwcLtbi7kWPXBE253ZjGpIVRux67AVAr2nz32V4TYySkZBklwsanbGcHB65wWB9qXeQxxaUzFBJIMQGW5yHUrRa6bq7SFGeRgiKMszHCgDzJ8qzK94hzBAFLLFIZHGEjQMy4UnBwAqocYJLZydjWfzcZ4pPMsLy3PeyeERszJq3zjSdI8j/SqXTW4FOw9nGTPG23ittXtH4eXZftUfhwScnSc5+FsYYjG+PUVZEkDAFSCCAQR0IPQ1hsPKnGGtwTDFIuSBFLHbmRdD46SIDg6dsE5U59KsHA+1U2ZjtuJWjWukaQyKwUKuAmIiCdOARlSRsMDfYbL/wAskS0I/wDScR42IPstUpXRZ3qTRrJEwZHAZWHQg9DXfV6zNEpSlCENUqK2+08WfUBoh3x7rjHz8RJz7CroaiOBXKzvPKsYXx93q31OIxjJ+pNKVEYkcxpPG/jZOU0hja9wHC19rn2upiuK5rhjTaTWYc38Q767f8sf3a/5fi/3s/pXTyupN5Dj837BST+2ajZJdbFj1Ylj9TmpngFuYrm1k1KyyMR4c+FsaSrbbHxCvExuMtT3n9QPmvdyNbDS93/SQOhWnVn3Mlh3PEY2UbSPG/8Am1gN+4z9a0EV4r3g0c0scjgloiSu+2Tg7+uCBXqqyn79gA1BBXkaKp+HeXHQgj281BdqHD2n4TcrHGZHChlUZzkEZbA+IqupgN9wMb4qb4BepPaQSx7I8UbKPQFQQMeWOld3ErowwySBdRjR3C5xqKqWxnyzjFVnsu5nbiFhrk0d5G7o4RdK/nXC9B4WXpnp65rTs4w6ZA+v+Fn5By7OfYHkWFEAbUxGNs6sZGCem2r516OVuO97HFG5JfS4ZjnOqMr4TkbnS6nPsanri0WTGsZ0sHX2ZTkGqpybBi5uVdd0fKk/hJLqce5GPpWI9jo6oPB+rLoP8rXY9slIWEfRn1NvbourtibHB5/doP8Anxn/AEr8+Yr9A9sv/pEv88H/ADkr8/V7bsv/AMJ8fwF5mr+oLZ4RNxPlhS8wjZQ3eOQx1Q28rK2Qu7Hu0zgfERjbO1B4dzHDwu+E3DszxhAhM4Ks2oAyEYA7s5UAHB2J61p3ZxB3nLuj8y3a/rLMKwaJsqD6gVylYHOlYdATlwz/AMKUzi0NcF+puWOYE4hax3EYKq4OVPVWVirKfXDA7+dStZl2FcT12k0BO8UmpR6JKuf+JZD9a02sWoj7uVzBwKdjdiaCum9u1hjeSQ6URS7H0VRkn9BWJ84dpDX1lNFPCI1m7prUZ8WlJSzSP7EKoHqc4yMkWntW4ySO4LmO2Qarkj4pHILQ2yn1bQSfQYJ22OYi1/tEKcmS/ubgjQmyx26pjodhuRjrhYh75KRrnzgjRpuU3IyOOmJfq7T9/eG6v3KfZKtzbxTcRkkdmjjEcanAjhABRCcZ+HYgYxqbqd60vg/BYbOIRW0YjQb4GdzgDJJ3J2G5rxcn3LyWoLABQ8qRYH/sRyNHET6kqgbPnmqn2xx3iQpPaSyJEgKzrG7KRkjS/h3I6g+m3lnC8oDHOdbipRPkqS2NzrDht0WjVwyA4yAcbjPkfWvzfxbn66a5aW3uLiNCF0KXbGlVVM6cldyhJ67k1c+Ec1XvGeGTwRE/bITEwdGEbSIWOdwQA3hIPQHIqkTAmyak7MkjaHki2V+V1r1ebiPDIrlCk8aSIequAR+/T51hfEeeLmLh5spnmhu4ZfE7NJ3joSzY1hsgjUOuQV04rRex7ij3HDiZZHkdJXUs5Zm6KwGpjk7MK62UOOFVy0UkMfek8bexXg5lsZ+CRQf2VraEznvIWy4PeAADWcmNMgj5tnNXDgfNdtesyQTJJIgUuEJKjO3hYgBxkdR7etSk6MVYIdLEEK2M4ONjjzwfKsPXiTWF8l4qFHRzBxKMLgAs2O90+SygCQY21LjO4yOOA8kRN+JaQfqHHfx9Ad1ulKjeA8aF3EXClSGKkHp5EMrdHRlIYMPI+RBAVckCCDYqQkGxqo8ocUZF7lwAwlcSa2AYFgWGB+NiwbIq3mq9xO/itVlSDSJgGnwwYjJOWOfXc7Z/ak6gYXNkxWAv99MvHJN05xNdFhuTb7a5+GasVcMNq6rS5EsaOvR1DD6jNdxpsG4uEoQQbFY3DZOz92ilnGRjz8PX+lWHkvjAik7iRSdbgrsMpJjSc56bD57VJ8wx21mswKs0lyGI6bZ9D+EZOa8Imge6s2h0lyR3pUYy2BuffOqvLMp/hpQQ4YgRccibdeK9ZJU/FQkOYcJBseYF7+F8v3K+iua4FRPFuYFt5Yogpd5CNh5LnGr3/wDBr075GxjE45LyrI3SHC0ZqQvZNMbtp1YVjp/NgE4+vSsQ7KeY47PiBiDaba7A7rUfhfJMSnyDeJoz6kL7VujLkYPQ7VjXPHZLO12XsI07mTThFKoImC4bbYBcqDkZOX6edaVG6Mh8chtcJWYOyc3gtmqp8tK32+8LdQcH03Y6f2FUrhXa9c2bR2vELZmkjPdyvq++I2CHRjDN7hsNsR1rQ+W7UL31xrVlnbWpGdkBbrq6EZOR5YrMrKZ7JY77k68Lap+mmb3UnMAeYP4Uf2r2Rl4RcheqBJf8sciO/wDuq1fnWt05s7Sow01pb4kaWBhBIgDqZ21qyEeYA0tkAg5NY/zBGv2l1igMAUIpj8ZKtpBJOrcZJJx6Yrf7NlDW4Dxz+2QWRVNvYhbx2YpCOFQiBneLMu8ihXyZXLggEgYJI6navzvcQCN3RSGVGZAwOQwVioYHzBAyD71PrzNdR8PSzjJSLVIzaVYSbtqILA/CdTbY3qLPAJwoZ4ZI1IBDOrKpBGQQSNxj0q2mLITJI94sTvsSoSkvDWtC0jsChbvLx/w6YFz5FgZT+wI/WtiqldmX2OC2EFrLrk/iSlhpd3YDJCn8I2UYJwANz1NyEoJIBGRjIzuM9Mjy6GsepmbNKXt0T0TSxoBVF4/y3BxG9WJJI9MUn2m9TLGRn7uNIhg7BSi4OOnzNVvsx5QWe/lvlXRbQyyJbLlzqYZTXlt9IBPX8TeWnFQlvxKfiHEby3siR9snHeSq2wtYHYZBHkQRv55C/izW729ssYwiqoJLEKABqYlmOB5kkknzJrrMdPGb5F/p/dXTuD3NaDcN9Tr00XYq46V1XdykSM8jBUQFmY9AoGSTXdVe7Qc/2Xd4OPum/TzH6ZFKk2F12NuJwbuVnnON3Z3YjulZGsIy2YYwEnluZHOtd8Mu2mQnHT1ztx2G6Td3ZQFU0LpUnJClzpBPmQB1xWZWXD5J20wxvI2wwiknc4HTpWsdkXC34fHc3N6BbxNoQGUhTlWYHIbcbkAZ60kxxc8Gy9LVRNgpnRh1zwH3235qydqfKAvrNpEX7+AF0I6so3eP3yMkD1A9TXl7ErPRw0tkHvZXfA8sBY8H38BP1FdfZ9zqb6/vYncuuovAuxQQo2g4OM76ozjp16Vf7a2SJQsaqijoqgBR57AbCmWgOdjCx5pJIovhn7g+Wi7aoPaXwpVaC4A8Lutpdfla2mOMsRuNDAaW8iwq/V03kepGHhzjI1LqUMN1JXzwQD1HSpuFxZKQyGN4cq32d8tz8OtngndXUSOYcHpGd99hgltTY361xUNwTnKaTisUUzExTWyvBoRkVyU1vI6MSynVHIAM9COvUq4wi1gp1DX48T9TmtEqm84WD96Jo03RNRbqGC/ErDy8JPzGoelXKvl0BGDuDsarqIRMzCVynnMD8YVU5S4np0x/+zJqaEk7qVPjiPrjqPb9rbVHk4bJwwySjQ8QbMaEEkMdlbP4CASNXn9drfw69E8SSL0YA49D5j6HalqJ7g3upMnDhy9tkzXMaXd7Hm08efvvuVXe0Dh2uFZVG8Z3/kbqfoQP3qj2Nz3UqP8AkZW/QgmtiZcjB3Bqp8W5BSQloG7sn8JGU+nmv7iku0KCR8nfRa7eCf7O7Rjjj7ibTgfHgpq45jgjjV2kAVwWTY5YDrgY96guHcba64iDDvFo8WpQGChemcZ+M+vrX1ecmPLBBH3igxBgxwSDqIO3yxU1wLgEdmhCeJm+Jz1Pt7D2pn+ZlkaHCzRY8zlp1Sv8rFE4tOJxuOQF9dNlJilM1WeceZxBG0cLgTHYnr3a+begPpn1z5U/LK2JuJyzoonSuwsCp/OXEY7q7LBEIgPdpJpPeahqWQagfEmSMbbEE9DVevr2cPBb3ZnW2mIELIilHd5DpGkFVbAIG/iyNWDnNT3KnBPtc6DB7lRlsdNPpn1Owx860m/4nbW2hZ5IovNA5UfDgbZ9MikKF5me6acXboBe1v8AF/uVpV7WQxtgj11J8ffyHivDy3wa2sF7uGRWdzuWZO8Y46bY2wpOPnU3JbqxBZQSMgZAOAev61lXGuQeF3cwayu1guXYkFH7wNIx1Zxq1A5zurDFRnHY+NcMjVo75riPJUmMCRkKgsdeuNiBpGclvb3O9FTxSACJ48Dl7rEc9zcyFrdty7bRSd5FBHG+CuUULscZGBt5CvcVGMYGPTyx8qwTgvaHxWchI7tCzEAB4lJ3IGr7uEgKMjLHGKsDdkfELmQz3N+qTvjUUDk7bAAqYwAB5AYqx1EIjaR4HU/hRE2L6QvD2ohIbrRGILTxK3eJI5nbUNRfuYx93gg7kgk9Dvs5I47Jdzx26vJBbr/tM05P+0XLppw00pbwoWAGFLbBVzg7W3l7sctraXvbh2u5Ov3gHd6/zadyx/mLVMc9WqfZcvGrRgqsp0nvEizgMhHTQxVt8jAPrUZZooo8EQvz0+9vfRDWOc67lTOxqMRXl/E5EkoIPejHjVXcFhgkAMWVtj5+1a1X574PxN7B5nQskktuyIy4OJQVdCNWxVtBXPuK3fgnEftNtDNjHexpJj01KGx+9Z7JjKSXHNaE8TWgOYLDIfe2a9tVvtGQnhV1j/8AGT9AQT+wqyVC86y6eHXZwDiCXY9D4CN6k7QquE2kaeY9ViHLvaBd8Ps9FtHEIw7apGQli7YIz4gMgeufKpbkGOXitvxO3kk1STCOZS3TvgxOTtsCVQbdANq8/GuYUi4FbWscSo1wDJIQxJxHNs5yMkuUB9ABgbYqR7BkH2m5OdxGoA9QX3P0wP1pNv1Bt16SewgklDbHFrvYjPqvB2OEwcXaOQaXMcsRU9Q6srFfmNB/St5quxclxLxJr8E94yaNGBp1YCl89SdIA/WrFTMTCwWWHW1DaiQPGwv4pXFc1watSSpk1t3/AB9GEeVt7Yh5AcYklY6FJHXw6sD/ABk0rp5D5skvr3iCkhoY3XuiANh4kG/mCI9W/wD4pUGEEXCYqA5jgx3AD3/KvVKUqaXXxLEHUqwBUjBB6EHyqvcX4BKhWSxbu2UaTHnCMoyRgdM7+dWSlVSwtkFj1GvVXRTOiNx0OnRU6Dnh4cLeQMreqjGRn8rf6Guy+5/iCnuQzEqcEj4W8sg9R57GpjmDhT3MYWN1Ug58ShlI9CCD7VAx8lyO+Zu40ht9KMC6+fwkBT1rLkFYw4GG43IHrf8AC1IjRPGOQWOwJ9LfldFt2isP4kSnbYqxG/l1qTHPsGkbOzkDKov4vQFsZqRtOV7aI5WIZ3Hiy2x8vESK90VhGrFlRQx6kKAfTrV0UNYB80g6X9lTNNROPyRnrb3VPvIb2/k2VoITjAY4GPUgeJj7Yx/WuvivKcQQWsUq/aZ9Bcu3i7pX1uyp81+uOtXuqW1yDzAAfw22hf5idf8AQn9KmKVjDjddzidTw8NlRJWPezu2gNbsPyeKtnDuHpbxLHENKIMAf6n1J6k1Su1rhymCKYDxq/dk/wCBgx/qB+tX6ql2nj+7m/nj/wCMCm5QO7ISY1VM7NeL9zeLGVUibK6tI1qwGoYbrpOnBHrg1xx/iTcO4lc/ZAI8mPIGdJyqSN4c43JIzjYE4wTmo3kpc8Rtv5/6Ix/0r19o6Y4lL7iM/wD81H+lJAnu/A/hS4rSuXLS0mVby2giR5FOXVEEnXDqWA3IYYPyqeqidk/EC8EkRxiJhpx6PqYk+pzn9qtn9v2+/wB/D4ThvvE2PTB32O1PtkxNBcVC1l764ZQRgjIOxB6EVHf/AFJa5I+0wZGx+9j2Pp1rtteN28raIp4nY5wquhbbrsDmu4huhZjzJyqztcwRrr+zqJYF/EbeTUXjAPxBHHh+ZHnWicrXSPaxBFCGNVR4/CDE4VSUKrspGQcehFfPMNzJFpa3UGRw6D7stlhG7pqcEd2gIO5znIG2ayyx49c8N08QTXPb3JK3St5SqQusNjw58jv0KnyxQLRuTMLO+Hdg58OfJbZUPzWYTaTR3MywJKjRl2KjGoY2ydzv0r4bm+3ESys+E1KkjDBELOoYCUqSFG6jO4yw3xvURzTybb8dSGVZyFQPoaPSVYMVz19Cn9aucbjJRiZZ4MlwL62WH813UT3GLZi0MSRQxsRguI0VSxHlltR+tXDsO4ikd3Oj4GuLIYkADQ4yN/XX+1WJew6IW8kff5kZ0ZJTHuiqCCmA+4OfUdBttThHYZFFIGnuHlUHdFQIGGc6WOpiVPmNqVbG8OxWW/LW0r4DFiPTXmtPrmuFXAwOgrmnV5lcVUe0zmxbCycK2J5gY4gD4hnZn9tIOc+uB51E9q/Pc/DwkNsAjSKWMp0kgZxpReurzLEYAxjJO0FadmV5xZRdcRnMcr6QqFBqEQPmBgIcEkLjqcnckVS95N2t1WlT0zWhs0xAb5n+ykOw1iI50C4Qd2+vB8bsZFYK3QqoRRt56vUUrQuA8GSyto4Is6IxgE9SSSWY48ySSfnSpsbhaAUrUyiWVzxxUhSlKml0pSlCEpSlCFxSuaUIXFUaSQRcwrkfxYcZz56Tv7fwsY/61eqzfm2CSzuEvHBYJM8a5J1NHLHqHi/BpLTKAem3lVMpsAea6Fo9VPtPP93N/PH/AMYNe3kO/afh8LSElgGQlsknQxUEk9SQBvUJ2tX4W3ii/FI+rH+FAc/uy0SOBjJ3CBqqRyP/AOo2385/5b17u0wf3i/8kf8ASuvs9t42voy8mh1OY1wT3hKuGGRsuBvv1rp5+4is9/My/CmI8+ugYb/e1D6UnpH9/wAKXFWzsisCI55jnxMsYHl4BqJ/38fSpa77OoZZ0lZmymkEYBD6dl1Z9AANsdK9/JHDDbWEKMCGI1sD1DOS+D8sgfSp2nGRjAAQo3VZ4pyMl0pWaeZt8p/Dwh2+EBN8gEb5+I17eF8tLbmPS5bu1CjKx6iArKMsFB21H/zUzSphjQbri6bufRG7YJ0qzYAyTgE4A8zVf5X5f/uxYLqMDvVfvU3GzknBx0bGOnQivntG4v8AZrF9LFXkIjUg4bfdiD1HhB3FTfBS5toTMcyGNC/82kZ/euXBfbkugkZhU7m/s/lcrJwwxwsI+5libIjmiChUVhghsKCviHQjcYqk8p8wf2PeGO/W4thuTGjaoCGGxMbajjOSHRuux6Gt0rzXvDYp10zRpIvo6qw/QiuOjzuE9FWWYY5BcefX3Vb4X2o2FzL3aTaTjIaQaEOPIM2N/Y1MTc12afHdW6/OWP8A7qi+I9mnD5lI+yxqfIpqTfyzoIyKzQ9jF29xoxFHEpx3oLeIfmEZdmz7ZFcLpG8LqccVJKfqLbb2/fJaZxTtL4fboWNykh8liOticdPDsPmSBUTb8/TcTgkHDLeWOYLqSSZF7g4dFdQ+rGvDEgH8pr18udllnaxIJYknlXOqRwSGOdjoYkDAxt/1q4pGFAAAAGwA6D6VIB51VL3U7MowSdzp0VB4X2WZR5L2dpbyXBMwwTEd890WHXBIBI2wpAGBV34fYrBGsaFiqDALMWY+5Y7k16aVINDdFRJM+X6iuK5pSpKpKUpQhKUpQhKUpQhKUpQhK8nFeFpdQtFKMq4wfUHyI9CDuK9dK4RfIoVa5Qn7hRZTMDPCmrbOGiLHSQT1IGMgdMivDzpyNJfzLIkyqFQIEZTjOpiW1A+eR5fhr087cuSTBLm0Om5g3Ujq6bkr6Z64zsckHrXTBzq4hj7yPTMUjkCuNCzqV8axHJCyA9Ebc4H5sig2tgdouqN4J2Zy21xHL36HRqOysDkxsoxvvgkH6V6uA9l0UEiyTyGdlOQunCahvlgSS3r1/Wpzl/m6C9GFbRLvqhfaRcE+Xn9KnK6yKMi4RcpSlKvXEr5eQAZJAHv7bmuu7vEhQvKwRF3LMcAVkV6H4nehpZmSB30ROykAqTgJEm+WI6n6tjYVVJJgyGq6Avrmvjx4lfRpbjWiHRCD0dyRlz/hJA+i+9axw2NlhjWQkuEUOScksFGo58981G8K5NtbVxJFEA6gAMSSRsQSMnZjk5IqbrkbCCS7UoKUpSrlxKUpQhKUpQhKUpQhKUpQhKUpQhKUpQhKUpQhKUpQhKUpQhKiuP8ALUF+gWdSdOSpUkMpIwd/MdNjkbCpWlcIBFihZyOWL7hs2uz03UfkJNGsZGD1IIOAN1Iz6bV6LfnW/gcm9snMZG3dI2VPudTKRj3FX6uu4gWRSjgMrAqwPQgjBB9qq7q30khduqLcdrSIcG2lB9HKqf03rl+aOI3mBaWhhBIPeSdNPr4gAAfYMcdK6eUuWLaWaYyRK2l5VUHUVA1soGnOnYe21aCi4AA6DYVBge8ZlCq7cnNdiNuJOJXiZiBH4UKsF8LDAJwQdxjr74qxR2EalSsaAopRCFAKqcZUbbDYbD0r0Uq8NAXEpSlSQlKUoQlKUoQlKUoQlKUoQlKUoQv/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data:image/jpeg;base64,/9j/4AAQSkZJRgABAQAAAQABAAD/2wCEAAkGBhQPEBUUEBQWFBQVGRcVFRcXGRUfFRgVFxYXFhgYHBgaGyYeGB0jHRYWIC8gJCgpLC0sFx4xNzAqNSYsLCkBCQoKDgwOGg8PGiolHyUrNDEuMy0tKTAsLjYvLCo0LCwwKSwsLC8sKSwvLCwqLCksLCwtKSwtLSwsLCwsLCwsLP/AABEIANsA5wMBIgACEQEDEQH/xAAcAAEAAwADAQEAAAAAAAAAAAAABQYHAQMEAgj/xABEEAACAQMCAwYDBgMFBwMFAAABAgMABBESIQUGMQcTIkFRYTJxgRQjQlKRoTNysRUlYoLBJKKys9HS4TVDkxYXU1Sj/8QAGwEAAgMBAQEAAAAAAAAAAAAAAAQCAwUBBgf/xAA4EQABAwIEAwYGAAUEAwAAAAABAAIDBBESITFRQWGRBRNxobHRFCIygcHwIyRi4fEGQlKyM0Oi/9oADAMBAAIRAxEAPwDcaUr5d9IJPQDJ+lCF9VxmqpL2j26xPKwYKBmINhXmXYalUnIXJG5xnfHSo3gMl9xRna7XurKVGQRjAfGQQykrqPTGo4BByB0qoytvYZlPtoJQwySfK0b8eQHEqwcb53tLMlZZQXH4E8T/AFA2X64rPuae1d5SFsS0SFcMWCa8kg7bnTgZH1PsauNj2XWUUmso0mPwyNlM+pGBn65FWWLhsSABI0UDoAqgfoBVTmTPFiQPBOw1HZ9M4Oax0h/qsB0z81hXL/MskEne97cNJnDEYcGMkFh4zsxA671o9l2u2Tjx97Gf8S5H0KE/6VdRGB0AqB4jyJZXExmlhDOcZ8TgEjoSqkAmuNhkjHyuB8VdN2hRVj8U8Tm7FpF/CxAy9F38J5wtLshYJ1ZmzhDlXOOvhYA+VTOayHtA5Wt7Rw8Ec0GAGDqC0GoHpq1ao26HPT0HnXr5e51u4Gi+1Ms1m7aPtGD4egGp9tJBIyHGetAnLXYXjooydkskiE9K4kHg7I+AIyJ5arU6V47fisUkrxI4aSMKXUdQHGVPpuN/qPWvZTQN1gFpbkQlKUrq4lKUoQlKUoQlKUoQlKUoQlKUoQlKUoQlKUoQlKUoQui9vEhjaSRtKICzH0A61ROKdrsPduLVHebUUjDDwnph9jkg52X4vI4r47WOKSBRACBCya5tt9nHdgHyJYdPYnoDXk7KeTwQLyYZ3IgUjpjYyfPOQPkT6YTkke6Tu2fdejpKKmiozWVOefygHXkfzyUJyjwK6vr7vplJ0PqlkmU4yCcqFOAW8gMYXHQYFbUKAVyauhiEYte6ze0K91a8OLQ0AWAHBcE0DVjva3amK7VhJK3erqKsfAuMKAgHQbdPf3qE5E4gYuI25ZjpL6DuceNSg/dhVDqvDJgIWrF2AZaP4psn+0m1tuGvLZb9SuKU6vMr5liDKVYZBBBHkQdjUHw/kuC3LCEEQyKVlhYlo3OwD+IkhgARt1zv0FT9KiWg5lWsmewFrSQDr+8uGyy7mzlufhsy3tiAIolRGRdWoRooU68k94pAwT1AAPlkaFwLjKXluk0XwuOh6qw2Kn3ByK9rqCCCMg7H0xVJivl4ReRWgAW1n7x1YndZGYYU/lQYwPXUPQ1Th7p1+B9VpGV1dEIyLyMGR3aASQdyOH3V4pXGa5phZCUpShCUpShCUpShCUpShCUpShCUpShCUpShCUpShCzDtWka4urWzQ7t4seWqRtCn6BW/WtHsLNYIkjjGFRQqj2AxUBdy21xxSGMrruLdHlLA7Rg6VCsPxHxAgeWx86swqiNvzudutOrnJp4YLEBoJ8SSc+mi5ry8U4gtvDJK/wxqWP0GcfXpXqqidsHEu7sVjHWVwD/ACoNR/cLU5H4GFyXoqf4moZFufLj5Kr9p94biOwnYaTLCzkDoM922M/5qosUpRgynDKQyn0IOQf1rR+1eIJbWKeaqwA9gkY/6Vm1Y1TlKft6L6X2GWuoWgDK7umIr9LcNvRPDHKvSRFcfJlB/wBa9FQnI5H9nW2Dn7pf18x9Dt9Km81ttN2gr5fOwMlcwcCR5qP4/wAdjsYTNNq0AgeEZOScDzr2wTB0VhnDAMMjBwRnceVVbtTb+65vdogf/lT/AMVYeEyareInqY0J+ZUVEOOMt5e6tdC0UzZeJcR0DbepXrrK+1iynnu4o411p3LSKoC6sqW7wgnc+HR4Qd8dK1SvFe8IjmkildcvCWMZz01qVYe4I8vYVyaPvG4VZ2dV/Bzia17A+mSrfJHNgmitYi2tmR0dzqyJYgjBDqHiJjYnUPNTVyrKOyW2Bmmil3aBhJGM4IfTJDI3uNJAwdulavUadxcwEq7teBkFU5jPHrn6EBKUpV6ykpSlCEpSlCEpSlCEpSlCEpSlCEpSlCEpSlCFQOB8Yij4pxKSbSgRU1PnbTGdBOOuSCmwzuPcVfUcMARuDuPkap0vJLPxKW5BWONo9IGNYkkdSrF1Y4wp0nT0OB03qz8LuVeMaZFlKeB3UAAuuzbDYb+VUxYhcHc+q0q8xPLXxm/ytB5WaBby35WyK9lZj2mQfauI2Vt1z1A66ZJAGP6IT9K00msy4DdDiHHpZeqQo6xn+XEYP11Ow+dRqMwGblX9kXje+oH+xhP3IsPVe/tislazjkOzJIFU4J8LqcjI+EeFTv8Alx51j9Xocj8RlkkgnmkWJVLa5HdoW0kafxbHz3G2KqfGuDm0l7t5I5GABJibUoz5E4G/t7isypxOdjw2XtuxHRQxfDCUPOuWxWtdknEe8sO784XZf8reMf8AER9K+5IeM94xV7UpltIOfhydPRc5xjr6VVexu/03UsXlJHq+qMB/Rz+la7WhB/Eibmcl5Htb+TrpQGtIdnmL655fe6yznaLia2Mn2x7doSUDd3q151qVx4QOoFSVonG1jjCfZgoVQOmcADGfp6VJdqrf3a4/M8Y8sfGDuT06VZuGIwgjEnxhEDfzaRn96BF/EIudBx8Vx1bakY7u2Zudlh5Nzt+8FXeBnivfr9rFv3O4fT8fQ4I+uPSrXSlMtbhFrrFnm712LCB4CwWadn12X4tfaAFjYyMRjfIlwpz1HViR6mtMrP8As9j18Q4lLgAd6UGOn8SQn9cA/WtAqqn+j7n1Wh2uQanL/i3/AKhKUpV6yUpSlCEpSlCEpSlCEpSlCEpSlCEpSlCEpSlCFUu0LmC4sYY5LdQV14lJGcLtgf4dW4zio/kni6rdzx5AjumNzat0Vwc94o9GXoV65VqsvMnB2uogqMAQQSjbxyL+JHGOhHRhuDg1l0fDmgvJOHySmMKxkspDkFZjgx4b8rjwkdNQ2weqcpcx4dw/fX1Xo6COGopXRZBwBJ3tcZ+LT/8AJPFaPz9xk2lhK6nDtiNPUM+2R7gaj9KzvsgvVjvWRjgyRkL7spDY+eAT9KvbcKXjFhEt2JI3UgvgaGEyAoxAIIK7tj51Ajsd7uVXgu2TSQwJQFwQc5DBgM/SoytkdI17RkFbRT0cVHLSzOwvcTnYkZaac1eOP3ncWs8nXRG7Y9SFOB+tfnACv0bzFwpru1kgV9BkAXURnG4J2BHUA/rWef8A2Vf/APaX/wCM/wDfUauKSQjCFf8A6e7QpaON/fOsSdjoPAc1X+zS8SLiMZkbTqyi7bFnGACc7b49a3Ws0u+xgawYLlkAA+NQzhgeoKlceXl9a0iFCqgEliAASepIHU/OraVj42lrgke3qqnq5WzQOvcWIta1tF4+OcEjvYTFNnQSCdJwfCcjevZBCERVXooCj5AYFfdKasL3WCXuLQy+Q4JUDznzQvDrYybGRvDEp82PmfYAE/t51NXFysaF5GCKoyzMQFA9STsK/O/O3NTX19I0fjUHRGMZAQfDgf4t239fpQWPf8rNdzoOZTlDHE5+Oa+FvAC5ceDQNz6ArUeKcfewsg9rDbG4JiN2S0ccSO8Yd2bLLqJyMAHPiz7Guy9qN5byMZpOHOGIxGksrNHgAEFokbPQnfJy3p06uFdjc94BNxK5ZWfxFFGqQEgYy7HSpwACApxgDO1TF72GWpVRDLImM62bxO3TTjoi4wc+E51e1acQpo24HkE7gH19gsud8j3lzR1KsPD+1Dh07qkdx4mZVUMkq5ZsAAFlA6kD51NDmC2JQCeHMmdH3iePGAdO/ixkdPWsc4V2HXchH2mSGJTjIUs7gHqMaQuRt54NWiy7DLTuis7OZCzfeREqCpPh8DalBA2+lRlhpWn5Xnpf2UGPlOrVpWa5rJePcscR4NEH4bd3E8IYBoWQSMo3OQNJ8GwBChcZqQ5L7Y47p1gvVEExOkOD90zdMHO8bE5AByM7ZztVRpXFuOM4h59FPvBezslpVK4zXNKK1KUpQhKUpQhKUpQhcVzSlCEpSlCEqq868iLxMxN3ndMmQTpzqQ746jcEbfM1aqVFzA8Wcr4KiSnkEkRsQqBy/wA2SpxI2U5bu1Xu42lAErumAHztkPhiOufD71fs15LvhUUranRS+lkD4GsKwwQG6jr5VmlyvEOByaIZFntmz3ayEHCgDbTkMpHTw+E9cb4pdzzALvzG+y0Wwx9oOtFZj7DI6OOdyDwPIrV8157q+SIZkdUGM7kDYY/XqP1rPbztVLINASJsDXkliG8wFwOh9QflUHxnmMSFDNcCbwkqUAOkk/CVwpU7A5x6UtL2gACImknoPNWwdh1DnDvRYdT5Zea1Ph3McFwxWJ8keRBGc56asZ6GpKsHs+cTGwKakxnBGMjPXHz+dWSDtFmUZM8bY8mC5/RcGqou0jh/itN+Qy9UxVf6fmY7+Hpz18gtUry8T4nHbRPLMwVI1LMT6D09SegHrVA4r2izPaEQJiZukiEaQuQcgEnJxkfvWZXdpc3lx3MsgMr/AHkhd8iKNAX1ynoAFJbGdgQNicVqUcrat+GPTjyHgsuegdTQmSc4ToBqSfwP2ytHGuMXnMsYW2t2ihh1NLmQd27ZygyVALqBnTvu3lsanuzrgbzSJI8RitbcZgRgfHKw/inIGs4ydWMDIxjFSHZrw8zf7SEaK1WIW9lGcgtH1lndc4JlbBycnA98nQAuOlN1Yu8MGTW8Pc8ktS1PcxPAaMTha+2t7Dne19lDca5ytLJ1S5nVHYAhMMz4JwDpUEgEg7n0qLvO1Xh8MjpJK6sjFGzBcYDDqM93Vf7V+THeROI2yh3gCmaM760ibWGA88bhl816bjBzvmbtDn4glwkwAjmEQVFJ0xd0+vUNvEzbgnbY+wFO09GyZocLnfMC3ks58pYbFbve852kMUMkkpC3Ch4QEkMkikBsrGqlzsyk7bZ3qRh4pE7hA47woJAh2k0HoxQ+IfUbVT+J8GYx2vEbgNDNw+KR2gQLIpUKRIo8S5JVfCc7bdayPmzm0XfEPtlqjWzgJg5Hea0yuskbZ06VxuMLvnNVw0gmyad77X4DpxXXzYNV+lqhOZOT7biMZS5iB6lXGBIpOMkN74GQdjjcGvjkbmI8RsIZ2ADsCsgHTvEYo5AzsCRkexFT1J/NE+2hCuycFh/NX27h/d2U92REXL2d1kh10rp0SsPGi4k0lhuMk7rlRpHIHMEl1bGO68N3bnurhTp1auqOdO2GXByNs6sdK9fOnLa8RspYCBrIJiJ/DKN1PsM7H2JrI+SeItBdd7JriubRWF6r5++tdSJqb0khDKc48SqpzWgMNRCcgHD96HQ87HdU/Q7kt5pXANc1lphKUpQhKUpQhKUpQhKUpQhK+JplRSzEKo3JJwAPcmvqs9544s0svcgELG2NjnWxVT0x5Zx9aVq6kU8eO1zwTdHSmpkwA23UnzpxuNdKIxZ1OrSD92OhBfHxeoX9a++WOCrcL9puQZZG6awNOBsCF8/mfoPM93AuTIo4h36B5Dhjnovoo9ff1qzKuOlLRU8ksnezWtwbt480zNURxR9zBe/F2/hyVA555aaS4R4rGO4VhlyrGOTWD+JgwDAjGNs7HfpVFn4QhlUNaTW66tL/AH6krhtJIVo9RAwfXPrWv81cd+yQ+H+I+ye3q30/qRVO4bwuG60653+0yltsZAI38R67gZG4peseBJ3cdi7na3+TtdbXZtbLHAHPuGjIEF9+OdgbWG9l5YeTuG27RvLLPIrYkRSq6SoOMMAuTuD6bVYeHcr8Kusd1EpKZ2zIGOfUEguNvPIFe/i/JiSQKsZYPEmlCTs25OG+ZJ3FUTh4Kzx5ypEig+oOoA1VLPJTSBr2Nwn9KiyR1bG57Z34hz8bZC3BXC95J0Pm3AaLcvE56+yNjwnBO+Rvj1NVXj/JqWiOJPF9qKh9OpWaKPxmMkEhPw5wfFpz0Wrj2ncW+y8LncassBGCjFWUyMEDBgDjGc+WcYyM1xyXxC4mULdsxdYITIpiAjLSamDLIPjbTgMBsCNq2m0AYwyxHCTll9j0vbLRee+Pe5wbKMQG/H+/PVT3B71JoUeIYXAAXbw4207dMdK9tVmCNeHT6R/BuXGnyWNsNkfU6QPb5b2auQyFws/6hr+89VXPG1rrs+k6fvLRQ3OU/d8Ou2HVbeYj5922K/PfKaWHeH+02mCDGkRg6D66yvj9MBR65PlW69p1yI+EXZPnHo+sjLGP3avzdXo+zWYonZkXPBZNU7C4L9UfbY7q0MkLB45I2KsOhBU+vT5GvypB8K/If0rbeTuYI7HltZJWUbXKxKSAZJDNNpRfUk/tk+VYzY2TyskUStI7YVFUZZjjyH0J9gCas7PZ3ZkHAG3S65UnEG7reOxVccKB9ZZSPo2n+qmr7VW7M+DS2fDIorhO7lDSllJUkapnZd1JHwkHr51aaxqgh0riNynWCzQEqk818PtrG7XikzmNNBt7hRGXWVXwELAdMEAEnOQFFXaqN2zFf7IlDZ8TxBcfm7xT+mA36UU+cgbvkfuh9sN1d42BAI6EAj5V9VWOF82QwcLtbi7kWPXBE253ZjGpIVRux67AVAr2nz32V4TYySkZBklwsanbGcHB65wWB9qXeQxxaUzFBJIMQGW5yHUrRa6bq7SFGeRgiKMszHCgDzJ8qzK94hzBAFLLFIZHGEjQMy4UnBwAqocYJLZydjWfzcZ4pPMsLy3PeyeERszJq3zjSdI8j/SqXTW4FOw9nGTPG23ittXtH4eXZftUfhwScnSc5+FsYYjG+PUVZEkDAFSCCAQR0IPQ1hsPKnGGtwTDFIuSBFLHbmRdD46SIDg6dsE5U59KsHA+1U2ZjtuJWjWukaQyKwUKuAmIiCdOARlSRsMDfYbL/wAskS0I/wDScR42IPstUpXRZ3qTRrJEwZHAZWHQg9DXfV6zNEpSlCENUqK2+08WfUBoh3x7rjHz8RJz7CroaiOBXKzvPKsYXx93q31OIxjJ+pNKVEYkcxpPG/jZOU0hja9wHC19rn2upiuK5rhjTaTWYc38Q767f8sf3a/5fi/3s/pXTyupN5Dj837BST+2ajZJdbFj1Ylj9TmpngFuYrm1k1KyyMR4c+FsaSrbbHxCvExuMtT3n9QPmvdyNbDS93/SQOhWnVn3Mlh3PEY2UbSPG/8Am1gN+4z9a0EV4r3g0c0scjgloiSu+2Tg7+uCBXqqyn79gA1BBXkaKp+HeXHQgj281BdqHD2n4TcrHGZHChlUZzkEZbA+IqupgN9wMb4qb4BepPaQSx7I8UbKPQFQQMeWOld3ErowwySBdRjR3C5xqKqWxnyzjFVnsu5nbiFhrk0d5G7o4RdK/nXC9B4WXpnp65rTs4w6ZA+v+Fn5By7OfYHkWFEAbUxGNs6sZGCem2r516OVuO97HFG5JfS4ZjnOqMr4TkbnS6nPsanri0WTGsZ0sHX2ZTkGqpybBi5uVdd0fKk/hJLqce5GPpWI9jo6oPB+rLoP8rXY9slIWEfRn1NvbourtibHB5/doP8Anxn/AEr8+Yr9A9sv/pEv88H/ADkr8/V7bsv/AMJ8fwF5mr+oLZ4RNxPlhS8wjZQ3eOQx1Q28rK2Qu7Hu0zgfERjbO1B4dzHDwu+E3DszxhAhM4Ks2oAyEYA7s5UAHB2J61p3ZxB3nLuj8y3a/rLMKwaJsqD6gVylYHOlYdATlwz/AMKUzi0NcF+puWOYE4hax3EYKq4OVPVWVirKfXDA7+dStZl2FcT12k0BO8UmpR6JKuf+JZD9a02sWoj7uVzBwKdjdiaCum9u1hjeSQ6URS7H0VRkn9BWJ84dpDX1lNFPCI1m7prUZ8WlJSzSP7EKoHqc4yMkWntW4ySO4LmO2Qarkj4pHILQ2yn1bQSfQYJ22OYi1/tEKcmS/ubgjQmyx26pjodhuRjrhYh75KRrnzgjRpuU3IyOOmJfq7T9/eG6v3KfZKtzbxTcRkkdmjjEcanAjhABRCcZ+HYgYxqbqd60vg/BYbOIRW0YjQb4GdzgDJJ3J2G5rxcn3LyWoLABQ8qRYH/sRyNHET6kqgbPnmqn2xx3iQpPaSyJEgKzrG7KRkjS/h3I6g+m3lnC8oDHOdbipRPkqS2NzrDht0WjVwyA4yAcbjPkfWvzfxbn66a5aW3uLiNCF0KXbGlVVM6cldyhJ67k1c+Ec1XvGeGTwRE/bITEwdGEbSIWOdwQA3hIPQHIqkTAmyak7MkjaHki2V+V1r1ebiPDIrlCk8aSIequAR+/T51hfEeeLmLh5spnmhu4ZfE7NJ3joSzY1hsgjUOuQV04rRex7ij3HDiZZHkdJXUs5Zm6KwGpjk7MK62UOOFVy0UkMfek8bexXg5lsZ+CRQf2VraEznvIWy4PeAADWcmNMgj5tnNXDgfNdtesyQTJJIgUuEJKjO3hYgBxkdR7etSk6MVYIdLEEK2M4ONjjzwfKsPXiTWF8l4qFHRzBxKMLgAs2O90+SygCQY21LjO4yOOA8kRN+JaQfqHHfx9Ad1ulKjeA8aF3EXClSGKkHp5EMrdHRlIYMPI+RBAVckCCDYqQkGxqo8ocUZF7lwAwlcSa2AYFgWGB+NiwbIq3mq9xO/itVlSDSJgGnwwYjJOWOfXc7Z/ak6gYXNkxWAv99MvHJN05xNdFhuTb7a5+GasVcMNq6rS5EsaOvR1DD6jNdxpsG4uEoQQbFY3DZOz92ilnGRjz8PX+lWHkvjAik7iRSdbgrsMpJjSc56bD57VJ8wx21mswKs0lyGI6bZ9D+EZOa8Imge6s2h0lyR3pUYy2BuffOqvLMp/hpQQ4YgRccibdeK9ZJU/FQkOYcJBseYF7+F8v3K+iua4FRPFuYFt5Yogpd5CNh5LnGr3/wDBr075GxjE45LyrI3SHC0ZqQvZNMbtp1YVjp/NgE4+vSsQ7KeY47PiBiDaba7A7rUfhfJMSnyDeJoz6kL7VujLkYPQ7VjXPHZLO12XsI07mTThFKoImC4bbYBcqDkZOX6edaVG6Mh8chtcJWYOyc3gtmqp8tK32+8LdQcH03Y6f2FUrhXa9c2bR2vELZmkjPdyvq++I2CHRjDN7hsNsR1rQ+W7UL31xrVlnbWpGdkBbrq6EZOR5YrMrKZ7JY77k68Lap+mmb3UnMAeYP4Uf2r2Rl4RcheqBJf8sciO/wDuq1fnWt05s7Sow01pb4kaWBhBIgDqZ21qyEeYA0tkAg5NY/zBGv2l1igMAUIpj8ZKtpBJOrcZJJx6Yrf7NlDW4Dxz+2QWRVNvYhbx2YpCOFQiBneLMu8ihXyZXLggEgYJI6navzvcQCN3RSGVGZAwOQwVioYHzBAyD71PrzNdR8PSzjJSLVIzaVYSbtqILA/CdTbY3qLPAJwoZ4ZI1IBDOrKpBGQQSNxj0q2mLITJI94sTvsSoSkvDWtC0jsChbvLx/w6YFz5FgZT+wI/WtiqldmX2OC2EFrLrk/iSlhpd3YDJCn8I2UYJwANz1NyEoJIBGRjIzuM9Mjy6GsepmbNKXt0T0TSxoBVF4/y3BxG9WJJI9MUn2m9TLGRn7uNIhg7BSi4OOnzNVvsx5QWe/lvlXRbQyyJbLlzqYZTXlt9IBPX8TeWnFQlvxKfiHEby3siR9snHeSq2wtYHYZBHkQRv55C/izW729ssYwiqoJLEKABqYlmOB5kkknzJrrMdPGb5F/p/dXTuD3NaDcN9Tr00XYq46V1XdykSM8jBUQFmY9AoGSTXdVe7Qc/2Xd4OPum/TzH6ZFKk2F12NuJwbuVnnON3Z3YjulZGsIy2YYwEnluZHOtd8Mu2mQnHT1ztx2G6Td3ZQFU0LpUnJClzpBPmQB1xWZWXD5J20wxvI2wwiknc4HTpWsdkXC34fHc3N6BbxNoQGUhTlWYHIbcbkAZ60kxxc8Gy9LVRNgpnRh1zwH3235qydqfKAvrNpEX7+AF0I6so3eP3yMkD1A9TXl7ErPRw0tkHvZXfA8sBY8H38BP1FdfZ9zqb6/vYncuuovAuxQQo2g4OM76ozjp16Vf7a2SJQsaqijoqgBR57AbCmWgOdjCx5pJIovhn7g+Wi7aoPaXwpVaC4A8Lutpdfla2mOMsRuNDAaW8iwq/V03kepGHhzjI1LqUMN1JXzwQD1HSpuFxZKQyGN4cq32d8tz8OtngndXUSOYcHpGd99hgltTY361xUNwTnKaTisUUzExTWyvBoRkVyU1vI6MSynVHIAM9COvUq4wi1gp1DX48T9TmtEqm84WD96Jo03RNRbqGC/ErDy8JPzGoelXKvl0BGDuDsarqIRMzCVynnMD8YVU5S4np0x/+zJqaEk7qVPjiPrjqPb9rbVHk4bJwwySjQ8QbMaEEkMdlbP4CASNXn9drfw69E8SSL0YA49D5j6HalqJ7g3upMnDhy9tkzXMaXd7Hm08efvvuVXe0Dh2uFZVG8Z3/kbqfoQP3qj2Nz3UqP8AkZW/QgmtiZcjB3Bqp8W5BSQloG7sn8JGU+nmv7iku0KCR8nfRa7eCf7O7Rjjj7ibTgfHgpq45jgjjV2kAVwWTY5YDrgY96guHcba64iDDvFo8WpQGChemcZ+M+vrX1ecmPLBBH3igxBgxwSDqIO3yxU1wLgEdmhCeJm+Jz1Pt7D2pn+ZlkaHCzRY8zlp1Sv8rFE4tOJxuOQF9dNlJilM1WeceZxBG0cLgTHYnr3a+begPpn1z5U/LK2JuJyzoonSuwsCp/OXEY7q7LBEIgPdpJpPeahqWQagfEmSMbbEE9DVevr2cPBb3ZnW2mIELIilHd5DpGkFVbAIG/iyNWDnNT3KnBPtc6DB7lRlsdNPpn1Owx860m/4nbW2hZ5IovNA5UfDgbZ9MikKF5me6acXboBe1v8AF/uVpV7WQxtgj11J8ffyHivDy3wa2sF7uGRWdzuWZO8Y46bY2wpOPnU3JbqxBZQSMgZAOAev61lXGuQeF3cwayu1guXYkFH7wNIx1Zxq1A5zurDFRnHY+NcMjVo75riPJUmMCRkKgsdeuNiBpGclvb3O9FTxSACJ48Dl7rEc9zcyFrdty7bRSd5FBHG+CuUULscZGBt5CvcVGMYGPTyx8qwTgvaHxWchI7tCzEAB4lJ3IGr7uEgKMjLHGKsDdkfELmQz3N+qTvjUUDk7bAAqYwAB5AYqx1EIjaR4HU/hRE2L6QvD2ohIbrRGILTxK3eJI5nbUNRfuYx93gg7kgk9Dvs5I47Jdzx26vJBbr/tM05P+0XLppw00pbwoWAGFLbBVzg7W3l7sctraXvbh2u5Ov3gHd6/zadyx/mLVMc9WqfZcvGrRgqsp0nvEizgMhHTQxVt8jAPrUZZooo8EQvz0+9vfRDWOc67lTOxqMRXl/E5EkoIPejHjVXcFhgkAMWVtj5+1a1X574PxN7B5nQskktuyIy4OJQVdCNWxVtBXPuK3fgnEftNtDNjHexpJj01KGx+9Z7JjKSXHNaE8TWgOYLDIfe2a9tVvtGQnhV1j/8AGT9AQT+wqyVC86y6eHXZwDiCXY9D4CN6k7QquE2kaeY9ViHLvaBd8Ps9FtHEIw7apGQli7YIz4gMgeufKpbkGOXitvxO3kk1STCOZS3TvgxOTtsCVQbdANq8/GuYUi4FbWscSo1wDJIQxJxHNs5yMkuUB9ABgbYqR7BkH2m5OdxGoA9QX3P0wP1pNv1Bt16SewgklDbHFrvYjPqvB2OEwcXaOQaXMcsRU9Q6srFfmNB/St5quxclxLxJr8E94yaNGBp1YCl89SdIA/WrFTMTCwWWHW1DaiQPGwv4pXFc1watSSpk1t3/AB9GEeVt7Yh5AcYklY6FJHXw6sD/ABk0rp5D5skvr3iCkhoY3XuiANh4kG/mCI9W/wD4pUGEEXCYqA5jgx3AD3/KvVKUqaXXxLEHUqwBUjBB6EHyqvcX4BKhWSxbu2UaTHnCMoyRgdM7+dWSlVSwtkFj1GvVXRTOiNx0OnRU6Dnh4cLeQMreqjGRn8rf6Guy+5/iCnuQzEqcEj4W8sg9R57GpjmDhT3MYWN1Ug58ShlI9CCD7VAx8lyO+Zu40ht9KMC6+fwkBT1rLkFYw4GG43IHrf8AC1IjRPGOQWOwJ9LfldFt2isP4kSnbYqxG/l1qTHPsGkbOzkDKov4vQFsZqRtOV7aI5WIZ3Hiy2x8vESK90VhGrFlRQx6kKAfTrV0UNYB80g6X9lTNNROPyRnrb3VPvIb2/k2VoITjAY4GPUgeJj7Yx/WuvivKcQQWsUq/aZ9Bcu3i7pX1uyp81+uOtXuqW1yDzAAfw22hf5idf8AQn9KmKVjDjddzidTw8NlRJWPezu2gNbsPyeKtnDuHpbxLHENKIMAf6n1J6k1Su1rhymCKYDxq/dk/wCBgx/qB+tX6ql2nj+7m/nj/wCMCm5QO7ISY1VM7NeL9zeLGVUibK6tI1qwGoYbrpOnBHrg1xx/iTcO4lc/ZAI8mPIGdJyqSN4c43JIzjYE4wTmo3kpc8Rtv5/6Ix/0r19o6Y4lL7iM/wD81H+lJAnu/A/hS4rSuXLS0mVby2giR5FOXVEEnXDqWA3IYYPyqeqidk/EC8EkRxiJhpx6PqYk+pzn9qtn9v2+/wB/D4ThvvE2PTB32O1PtkxNBcVC1l764ZQRgjIOxB6EVHf/AFJa5I+0wZGx+9j2Pp1rtteN28raIp4nY5wquhbbrsDmu4huhZjzJyqztcwRrr+zqJYF/EbeTUXjAPxBHHh+ZHnWicrXSPaxBFCGNVR4/CDE4VSUKrspGQcehFfPMNzJFpa3UGRw6D7stlhG7pqcEd2gIO5znIG2ayyx49c8N08QTXPb3JK3St5SqQusNjw58jv0KnyxQLRuTMLO+Hdg58OfJbZUPzWYTaTR3MywJKjRl2KjGoY2ydzv0r4bm+3ESys+E1KkjDBELOoYCUqSFG6jO4yw3xvURzTybb8dSGVZyFQPoaPSVYMVz19Cn9aucbjJRiZZ4MlwL62WH813UT3GLZi0MSRQxsRguI0VSxHlltR+tXDsO4ikd3Oj4GuLIYkADQ4yN/XX+1WJew6IW8kff5kZ0ZJTHuiqCCmA+4OfUdBttThHYZFFIGnuHlUHdFQIGGc6WOpiVPmNqVbG8OxWW/LW0r4DFiPTXmtPrmuFXAwOgrmnV5lcVUe0zmxbCycK2J5gY4gD4hnZn9tIOc+uB51E9q/Pc/DwkNsAjSKWMp0kgZxpReurzLEYAxjJO0FadmV5xZRdcRnMcr6QqFBqEQPmBgIcEkLjqcnckVS95N2t1WlT0zWhs0xAb5n+ykOw1iI50C4Qd2+vB8bsZFYK3QqoRRt56vUUrQuA8GSyto4Is6IxgE9SSSWY48ySSfnSpsbhaAUrUyiWVzxxUhSlKml0pSlCEpSlCFxSuaUIXFUaSQRcwrkfxYcZz56Tv7fwsY/61eqzfm2CSzuEvHBYJM8a5J1NHLHqHi/BpLTKAem3lVMpsAea6Fo9VPtPP93N/PH/AMYNe3kO/afh8LSElgGQlsknQxUEk9SQBvUJ2tX4W3ii/FI+rH+FAc/uy0SOBjJ3CBqqRyP/AOo2385/5b17u0wf3i/8kf8ASuvs9t42voy8mh1OY1wT3hKuGGRsuBvv1rp5+4is9/My/CmI8+ugYb/e1D6UnpH9/wAKXFWzsisCI55jnxMsYHl4BqJ/38fSpa77OoZZ0lZmymkEYBD6dl1Z9AANsdK9/JHDDbWEKMCGI1sD1DOS+D8sgfSp2nGRjAAQo3VZ4pyMl0pWaeZt8p/Dwh2+EBN8gEb5+I17eF8tLbmPS5bu1CjKx6iArKMsFB21H/zUzSphjQbri6bufRG7YJ0qzYAyTgE4A8zVf5X5f/uxYLqMDvVfvU3GzknBx0bGOnQivntG4v8AZrF9LFXkIjUg4bfdiD1HhB3FTfBS5toTMcyGNC/82kZ/euXBfbkugkZhU7m/s/lcrJwwxwsI+5libIjmiChUVhghsKCviHQjcYqk8p8wf2PeGO/W4thuTGjaoCGGxMbajjOSHRuux6Gt0rzXvDYp10zRpIvo6qw/QiuOjzuE9FWWYY5BcefX3Vb4X2o2FzL3aTaTjIaQaEOPIM2N/Y1MTc12afHdW6/OWP8A7qi+I9mnD5lI+yxqfIpqTfyzoIyKzQ9jF29xoxFHEpx3oLeIfmEZdmz7ZFcLpG8LqccVJKfqLbb2/fJaZxTtL4fboWNykh8liOticdPDsPmSBUTb8/TcTgkHDLeWOYLqSSZF7g4dFdQ+rGvDEgH8pr18udllnaxIJYknlXOqRwSGOdjoYkDAxt/1q4pGFAAAAGwA6D6VIB51VL3U7MowSdzp0VB4X2WZR5L2dpbyXBMwwTEd890WHXBIBI2wpAGBV34fYrBGsaFiqDALMWY+5Y7k16aVINDdFRJM+X6iuK5pSpKpKUpQhKUpQhKUpQhKUpQhK8nFeFpdQtFKMq4wfUHyI9CDuK9dK4RfIoVa5Qn7hRZTMDPCmrbOGiLHSQT1IGMgdMivDzpyNJfzLIkyqFQIEZTjOpiW1A+eR5fhr087cuSTBLm0Om5g3Ujq6bkr6Z64zsckHrXTBzq4hj7yPTMUjkCuNCzqV8axHJCyA9Ebc4H5sig2tgdouqN4J2Zy21xHL36HRqOysDkxsoxvvgkH6V6uA9l0UEiyTyGdlOQunCahvlgSS3r1/Wpzl/m6C9GFbRLvqhfaRcE+Xn9KnK6yKMi4RcpSlKvXEr5eQAZJAHv7bmuu7vEhQvKwRF3LMcAVkV6H4nehpZmSB30ROykAqTgJEm+WI6n6tjYVVJJgyGq6Avrmvjx4lfRpbjWiHRCD0dyRlz/hJA+i+9axw2NlhjWQkuEUOScksFGo58981G8K5NtbVxJFEA6gAMSSRsQSMnZjk5IqbrkbCCS7UoKUpSrlxKUpQhKUpQhKUpQhKUpQhKUpQhKUpQhKUpQhKUpQhKUpQhKiuP8ALUF+gWdSdOSpUkMpIwd/MdNjkbCpWlcIBFihZyOWL7hs2uz03UfkJNGsZGD1IIOAN1Iz6bV6LfnW/gcm9snMZG3dI2VPudTKRj3FX6uu4gWRSjgMrAqwPQgjBB9qq7q30khduqLcdrSIcG2lB9HKqf03rl+aOI3mBaWhhBIPeSdNPr4gAAfYMcdK6eUuWLaWaYyRK2l5VUHUVA1soGnOnYe21aCi4AA6DYVBge8ZlCq7cnNdiNuJOJXiZiBH4UKsF8LDAJwQdxjr74qxR2EalSsaAopRCFAKqcZUbbDYbD0r0Uq8NAXEpSlSQlKUoQlKUoQlKUoQlKUoQlKUoQv/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981200"/>
            <a:ext cx="2200275"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92185"/>
      </p:ext>
    </p:extLst>
  </p:cSld>
  <p:clrMapOvr>
    <a:masterClrMapping/>
  </p:clrMapOvr>
  <mc:AlternateContent xmlns:mc="http://schemas.openxmlformats.org/markup-compatibility/2006" xmlns:p14="http://schemas.microsoft.com/office/powerpoint/2010/main">
    <mc:Choice Requires="p14">
      <p:transition spd="slow" p14:dur="2000" advTm="75312"/>
    </mc:Choice>
    <mc:Fallback xmlns="">
      <p:transition spd="slow" advTm="7531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Quality</a:t>
            </a:r>
          </a:p>
        </p:txBody>
      </p:sp>
      <p:sp>
        <p:nvSpPr>
          <p:cNvPr id="3" name="Date Placeholder 2"/>
          <p:cNvSpPr>
            <a:spLocks noGrp="1"/>
          </p:cNvSpPr>
          <p:nvPr>
            <p:ph type="dt" sz="half" idx="10"/>
          </p:nvPr>
        </p:nvSpPr>
        <p:spPr/>
        <p:txBody>
          <a:bodyPr/>
          <a:lstStyle/>
          <a:p>
            <a:fld id="{36E976EC-7618-4E5D-A391-D74D4D2FD82C}"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8</a:t>
            </a:fld>
            <a:endParaRPr lang="en-US"/>
          </a:p>
        </p:txBody>
      </p:sp>
      <p:sp>
        <p:nvSpPr>
          <p:cNvPr id="5" name="Content Placeholder 4"/>
          <p:cNvSpPr>
            <a:spLocks noGrp="1"/>
          </p:cNvSpPr>
          <p:nvPr>
            <p:ph sz="quarter" idx="1"/>
          </p:nvPr>
        </p:nvSpPr>
        <p:spPr/>
        <p:txBody>
          <a:bodyPr/>
          <a:lstStyle/>
          <a:p>
            <a:r>
              <a:rPr lang="en-US" b="1" dirty="0"/>
              <a:t>Quality</a:t>
            </a:r>
            <a:endParaRPr lang="en-US" dirty="0"/>
          </a:p>
          <a:p>
            <a:r>
              <a:rPr lang="en-US" b="1" dirty="0"/>
              <a:t>Quality Engineering</a:t>
            </a:r>
          </a:p>
          <a:p>
            <a:r>
              <a:rPr lang="en-US" b="1" dirty="0"/>
              <a:t>Quality Types</a:t>
            </a:r>
          </a:p>
          <a:p>
            <a:r>
              <a:rPr lang="en-US" b="1" dirty="0"/>
              <a:t>Quality Control </a:t>
            </a:r>
            <a:r>
              <a:rPr lang="en-US" b="1" dirty="0" err="1"/>
              <a:t>vs</a:t>
            </a:r>
            <a:r>
              <a:rPr lang="en-US" b="1" dirty="0"/>
              <a:t> Quality Assurance</a:t>
            </a:r>
          </a:p>
          <a:p>
            <a:r>
              <a:rPr lang="en-US" b="1" dirty="0"/>
              <a:t>Different views of Quality</a:t>
            </a:r>
          </a:p>
          <a:p>
            <a:r>
              <a:rPr lang="en-US" b="1" dirty="0"/>
              <a:t>Quality Models</a:t>
            </a:r>
          </a:p>
          <a:p>
            <a:r>
              <a:rPr lang="en-US" b="1" dirty="0"/>
              <a:t>Cost of Quality</a:t>
            </a:r>
            <a:br>
              <a:rPr lang="en-US" dirty="0"/>
            </a:br>
            <a:br>
              <a:rPr lang="en-US" dirty="0"/>
            </a:br>
            <a:endParaRPr lang="en-US" dirty="0"/>
          </a:p>
        </p:txBody>
      </p:sp>
    </p:spTree>
    <p:extLst>
      <p:ext uri="{BB962C8B-B14F-4D97-AF65-F5344CB8AC3E}">
        <p14:creationId xmlns:p14="http://schemas.microsoft.com/office/powerpoint/2010/main" val="2131582227"/>
      </p:ext>
    </p:extLst>
  </p:cSld>
  <p:clrMapOvr>
    <a:masterClrMapping/>
  </p:clrMapOvr>
  <mc:AlternateContent xmlns:mc="http://schemas.openxmlformats.org/markup-compatibility/2006" xmlns:p14="http://schemas.microsoft.com/office/powerpoint/2010/main">
    <mc:Choice Requires="p14">
      <p:transition spd="slow" p14:dur="2000" advTm="41596"/>
    </mc:Choice>
    <mc:Fallback xmlns="">
      <p:transition spd="slow" advTm="4159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quality?</a:t>
            </a:r>
            <a:endParaRPr lang="en-US" dirty="0"/>
          </a:p>
        </p:txBody>
      </p:sp>
      <p:sp>
        <p:nvSpPr>
          <p:cNvPr id="3" name="Date Placeholder 2"/>
          <p:cNvSpPr>
            <a:spLocks noGrp="1"/>
          </p:cNvSpPr>
          <p:nvPr>
            <p:ph type="dt" sz="half" idx="10"/>
          </p:nvPr>
        </p:nvSpPr>
        <p:spPr/>
        <p:txBody>
          <a:bodyPr/>
          <a:lstStyle/>
          <a:p>
            <a:fld id="{83DF76BE-E249-4C55-A7B7-F302A4AC5719}" type="datetime1">
              <a:rPr lang="en-US" smtClean="0"/>
              <a:t>17-Feb-26</a:t>
            </a:fld>
            <a:endParaRPr lang="en-US"/>
          </a:p>
        </p:txBody>
      </p:sp>
      <p:sp>
        <p:nvSpPr>
          <p:cNvPr id="4" name="Slide Number Placeholder 3"/>
          <p:cNvSpPr>
            <a:spLocks noGrp="1"/>
          </p:cNvSpPr>
          <p:nvPr>
            <p:ph type="sldNum" sz="quarter" idx="12"/>
          </p:nvPr>
        </p:nvSpPr>
        <p:spPr/>
        <p:txBody>
          <a:bodyPr/>
          <a:lstStyle/>
          <a:p>
            <a:fld id="{DAA5790D-B666-475A-A6BE-B57286F24B7C}" type="slidenum">
              <a:rPr lang="en-US" smtClean="0"/>
              <a:t>9</a:t>
            </a:fld>
            <a:endParaRPr lang="en-US"/>
          </a:p>
        </p:txBody>
      </p:sp>
      <p:sp>
        <p:nvSpPr>
          <p:cNvPr id="5" name="Content Placeholder 4"/>
          <p:cNvSpPr>
            <a:spLocks noGrp="1"/>
          </p:cNvSpPr>
          <p:nvPr>
            <p:ph sz="quarter" idx="1"/>
          </p:nvPr>
        </p:nvSpPr>
        <p:spPr/>
        <p:txBody>
          <a:bodyPr/>
          <a:lstStyle/>
          <a:p>
            <a:r>
              <a:rPr lang="en-GB" sz="2400" dirty="0"/>
              <a:t>Quality, simplistically, means that a product should meet its specification.</a:t>
            </a:r>
          </a:p>
          <a:p>
            <a:r>
              <a:rPr lang="en-GB" sz="2400" dirty="0"/>
              <a:t>This is problematical for software systems</a:t>
            </a:r>
          </a:p>
          <a:p>
            <a:pPr lvl="1"/>
            <a:r>
              <a:rPr lang="en-GB" sz="2000" dirty="0"/>
              <a:t>There is a tension between customer quality requirements (efficiency, reliability, etc.) and developer quality requirements (maintainability, reusability, etc.);</a:t>
            </a:r>
          </a:p>
          <a:p>
            <a:pPr lvl="1"/>
            <a:r>
              <a:rPr lang="en-GB" sz="2000" dirty="0"/>
              <a:t>Some quality requirements are difficult to specify in an unambiguous way;</a:t>
            </a:r>
          </a:p>
          <a:p>
            <a:pPr lvl="1"/>
            <a:r>
              <a:rPr lang="en-GB" sz="2000" dirty="0"/>
              <a:t>Software specifications are usually incomplete and often inconsistent.</a:t>
            </a:r>
          </a:p>
        </p:txBody>
      </p:sp>
    </p:spTree>
    <p:extLst>
      <p:ext uri="{BB962C8B-B14F-4D97-AF65-F5344CB8AC3E}">
        <p14:creationId xmlns:p14="http://schemas.microsoft.com/office/powerpoint/2010/main" val="3339484844"/>
      </p:ext>
    </p:extLst>
  </p:cSld>
  <p:clrMapOvr>
    <a:masterClrMapping/>
  </p:clrMapOvr>
  <mc:AlternateContent xmlns:mc="http://schemas.openxmlformats.org/markup-compatibility/2006" xmlns:p14="http://schemas.microsoft.com/office/powerpoint/2010/main">
    <mc:Choice Requires="p14">
      <p:transition spd="slow" p14:dur="2000" advTm="76449"/>
    </mc:Choice>
    <mc:Fallback xmlns="">
      <p:transition spd="slow" advTm="7644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Engineering</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10</a:t>
            </a:fld>
            <a:endParaRPr lang="en-US"/>
          </a:p>
        </p:txBody>
      </p:sp>
      <p:sp>
        <p:nvSpPr>
          <p:cNvPr id="6" name="Content Placeholder 5"/>
          <p:cNvSpPr>
            <a:spLocks noGrp="1"/>
          </p:cNvSpPr>
          <p:nvPr>
            <p:ph sz="quarter" idx="1"/>
          </p:nvPr>
        </p:nvSpPr>
        <p:spPr/>
        <p:txBody>
          <a:bodyPr/>
          <a:lstStyle/>
          <a:p>
            <a:pPr marL="0" indent="0">
              <a:buNone/>
            </a:pPr>
            <a:r>
              <a:rPr lang="en-US" b="1" dirty="0"/>
              <a:t>Software quality</a:t>
            </a:r>
            <a:r>
              <a:rPr lang="en-US" dirty="0"/>
              <a:t> assurance (SQA) consists of a </a:t>
            </a:r>
            <a:r>
              <a:rPr lang="en-US" b="1" dirty="0"/>
              <a:t>means</a:t>
            </a:r>
            <a:r>
              <a:rPr lang="en-US" dirty="0"/>
              <a:t> of monitoring the </a:t>
            </a:r>
            <a:r>
              <a:rPr lang="en-US" b="1" dirty="0"/>
              <a:t>software engineering</a:t>
            </a:r>
            <a:r>
              <a:rPr lang="en-US" dirty="0"/>
              <a:t> processes and methods used to ensure </a:t>
            </a:r>
            <a:r>
              <a:rPr lang="en-US" b="1" dirty="0"/>
              <a:t>quality</a:t>
            </a:r>
            <a:r>
              <a:rPr lang="en-US" dirty="0"/>
              <a:t>.</a:t>
            </a:r>
          </a:p>
        </p:txBody>
      </p:sp>
    </p:spTree>
    <p:extLst>
      <p:ext uri="{BB962C8B-B14F-4D97-AF65-F5344CB8AC3E}">
        <p14:creationId xmlns:p14="http://schemas.microsoft.com/office/powerpoint/2010/main" val="2320894443"/>
      </p:ext>
    </p:extLst>
  </p:cSld>
  <p:clrMapOvr>
    <a:masterClrMapping/>
  </p:clrMapOvr>
  <mc:AlternateContent xmlns:mc="http://schemas.openxmlformats.org/markup-compatibility/2006" xmlns:p14="http://schemas.microsoft.com/office/powerpoint/2010/main">
    <mc:Choice Requires="p14">
      <p:transition spd="slow" p14:dur="2000" advTm="103292"/>
    </mc:Choice>
    <mc:Fallback xmlns="">
      <p:transition spd="slow" advTm="10329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DEFINING QUALITY</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11</a:t>
            </a:fld>
            <a:endParaRPr lang="en-US"/>
          </a:p>
        </p:txBody>
      </p:sp>
      <p:sp>
        <p:nvSpPr>
          <p:cNvPr id="6" name="Content Placeholder 5"/>
          <p:cNvSpPr>
            <a:spLocks noGrp="1"/>
          </p:cNvSpPr>
          <p:nvPr>
            <p:ph sz="quarter" idx="1"/>
          </p:nvPr>
        </p:nvSpPr>
        <p:spPr/>
        <p:txBody>
          <a:bodyPr/>
          <a:lstStyle/>
          <a:p>
            <a:pPr>
              <a:lnSpc>
                <a:spcPct val="90000"/>
              </a:lnSpc>
            </a:pPr>
            <a:r>
              <a:rPr lang="en-US" sz="2800" dirty="0">
                <a:effectLst>
                  <a:outerShdw blurRad="38100" dist="38100" dir="2700000" algn="tl">
                    <a:srgbClr val="000000"/>
                  </a:outerShdw>
                </a:effectLst>
              </a:rPr>
              <a:t>Perfection</a:t>
            </a:r>
          </a:p>
          <a:p>
            <a:pPr>
              <a:lnSpc>
                <a:spcPct val="90000"/>
              </a:lnSpc>
            </a:pPr>
            <a:r>
              <a:rPr lang="en-US" sz="2800" dirty="0">
                <a:effectLst>
                  <a:outerShdw blurRad="38100" dist="38100" dir="2700000" algn="tl">
                    <a:srgbClr val="000000"/>
                  </a:outerShdw>
                </a:effectLst>
              </a:rPr>
              <a:t>Consistency</a:t>
            </a:r>
          </a:p>
          <a:p>
            <a:pPr>
              <a:lnSpc>
                <a:spcPct val="90000"/>
              </a:lnSpc>
            </a:pPr>
            <a:r>
              <a:rPr lang="en-US" sz="2800" dirty="0">
                <a:effectLst>
                  <a:outerShdw blurRad="38100" dist="38100" dir="2700000" algn="tl">
                    <a:srgbClr val="000000"/>
                  </a:outerShdw>
                </a:effectLst>
              </a:rPr>
              <a:t>Eliminating waste</a:t>
            </a:r>
          </a:p>
          <a:p>
            <a:pPr>
              <a:lnSpc>
                <a:spcPct val="90000"/>
              </a:lnSpc>
            </a:pPr>
            <a:r>
              <a:rPr lang="en-US" sz="2800" dirty="0">
                <a:effectLst>
                  <a:outerShdw blurRad="38100" dist="38100" dir="2700000" algn="tl">
                    <a:srgbClr val="000000"/>
                  </a:outerShdw>
                </a:effectLst>
              </a:rPr>
              <a:t>Speed of delivery</a:t>
            </a:r>
          </a:p>
          <a:p>
            <a:pPr>
              <a:lnSpc>
                <a:spcPct val="90000"/>
              </a:lnSpc>
            </a:pPr>
            <a:r>
              <a:rPr lang="en-US" sz="2800" dirty="0">
                <a:effectLst>
                  <a:outerShdw blurRad="38100" dist="38100" dir="2700000" algn="tl">
                    <a:srgbClr val="000000"/>
                  </a:outerShdw>
                </a:effectLst>
              </a:rPr>
              <a:t>Compliance with policies &amp; procedures</a:t>
            </a:r>
          </a:p>
          <a:p>
            <a:pPr>
              <a:lnSpc>
                <a:spcPct val="90000"/>
              </a:lnSpc>
            </a:pPr>
            <a:r>
              <a:rPr lang="en-US" sz="2800" dirty="0">
                <a:effectLst>
                  <a:outerShdw blurRad="38100" dist="38100" dir="2700000" algn="tl">
                    <a:srgbClr val="000000"/>
                  </a:outerShdw>
                </a:effectLst>
              </a:rPr>
              <a:t>Providing good, usable products</a:t>
            </a:r>
          </a:p>
          <a:p>
            <a:pPr>
              <a:lnSpc>
                <a:spcPct val="90000"/>
              </a:lnSpc>
            </a:pPr>
            <a:r>
              <a:rPr lang="en-US" sz="2800" dirty="0">
                <a:effectLst>
                  <a:outerShdw blurRad="38100" dist="38100" dir="2700000" algn="tl">
                    <a:srgbClr val="000000"/>
                  </a:outerShdw>
                </a:effectLst>
              </a:rPr>
              <a:t>Doing it right the first time</a:t>
            </a:r>
          </a:p>
          <a:p>
            <a:pPr>
              <a:lnSpc>
                <a:spcPct val="90000"/>
              </a:lnSpc>
            </a:pPr>
            <a:r>
              <a:rPr lang="en-US" sz="2800" dirty="0">
                <a:effectLst>
                  <a:outerShdw blurRad="38100" dist="38100" dir="2700000" algn="tl">
                    <a:srgbClr val="000000"/>
                  </a:outerShdw>
                </a:effectLst>
              </a:rPr>
              <a:t>Delighting or pleasing customers</a:t>
            </a:r>
          </a:p>
          <a:p>
            <a:pPr>
              <a:lnSpc>
                <a:spcPct val="90000"/>
              </a:lnSpc>
            </a:pPr>
            <a:r>
              <a:rPr lang="en-US" sz="2800" dirty="0">
                <a:effectLst>
                  <a:outerShdw blurRad="38100" dist="38100" dir="2700000" algn="tl">
                    <a:srgbClr val="000000"/>
                  </a:outerShdw>
                </a:effectLst>
              </a:rPr>
              <a:t>Total customer service &amp; satisfaction </a:t>
            </a:r>
          </a:p>
        </p:txBody>
      </p:sp>
    </p:spTree>
    <p:extLst>
      <p:ext uri="{BB962C8B-B14F-4D97-AF65-F5344CB8AC3E}">
        <p14:creationId xmlns:p14="http://schemas.microsoft.com/office/powerpoint/2010/main" val="170766840"/>
      </p:ext>
    </p:extLst>
  </p:cSld>
  <p:clrMapOvr>
    <a:masterClrMapping/>
  </p:clrMapOvr>
  <mc:AlternateContent xmlns:mc="http://schemas.openxmlformats.org/markup-compatibility/2006" xmlns:p14="http://schemas.microsoft.com/office/powerpoint/2010/main">
    <mc:Choice Requires="p14">
      <p:transition spd="slow" p14:dur="2000" advTm="126117"/>
    </mc:Choice>
    <mc:Fallback xmlns="">
      <p:transition spd="slow" advTm="12611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Types</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12</a:t>
            </a:fld>
            <a:endParaRPr lang="en-US"/>
          </a:p>
        </p:txBody>
      </p:sp>
      <p:sp>
        <p:nvSpPr>
          <p:cNvPr id="6" name="Content Placeholder 5"/>
          <p:cNvSpPr>
            <a:spLocks noGrp="1"/>
          </p:cNvSpPr>
          <p:nvPr>
            <p:ph sz="quarter" idx="1"/>
          </p:nvPr>
        </p:nvSpPr>
        <p:spPr/>
        <p:txBody>
          <a:bodyPr/>
          <a:lstStyle/>
          <a:p>
            <a:pPr fontAlgn="base"/>
            <a:r>
              <a:rPr lang="en-US" b="1" dirty="0"/>
              <a:t>Functional Quality</a:t>
            </a:r>
            <a:r>
              <a:rPr lang="en-US" dirty="0"/>
              <a:t> — a measure of </a:t>
            </a:r>
            <a:r>
              <a:rPr lang="en-US" i="1" dirty="0"/>
              <a:t>what</a:t>
            </a:r>
            <a:r>
              <a:rPr lang="en-US" dirty="0"/>
              <a:t> the software does vs. what it’s supposed to do</a:t>
            </a:r>
            <a:br>
              <a:rPr lang="en-US" dirty="0"/>
            </a:br>
            <a:endParaRPr lang="en-US" dirty="0"/>
          </a:p>
          <a:p>
            <a:pPr fontAlgn="base"/>
            <a:r>
              <a:rPr lang="en-US" b="1" dirty="0"/>
              <a:t>Non-Functional Quality</a:t>
            </a:r>
            <a:r>
              <a:rPr lang="en-US" dirty="0"/>
              <a:t> –</a:t>
            </a:r>
            <a:r>
              <a:rPr lang="en-US" i="1" dirty="0"/>
              <a:t> </a:t>
            </a:r>
            <a:r>
              <a:rPr lang="en-US" dirty="0"/>
              <a:t>a measure of</a:t>
            </a:r>
            <a:r>
              <a:rPr lang="en-US" i="1" dirty="0"/>
              <a:t> how well</a:t>
            </a:r>
            <a:r>
              <a:rPr lang="en-US" dirty="0"/>
              <a:t> it does it vs. how well it’s supposed to do it</a:t>
            </a:r>
            <a:br>
              <a:rPr lang="en-US" dirty="0"/>
            </a:br>
            <a:endParaRPr lang="en-US" dirty="0"/>
          </a:p>
          <a:p>
            <a:pPr fontAlgn="base"/>
            <a:r>
              <a:rPr lang="en-US" b="1" dirty="0"/>
              <a:t>Latent Quality</a:t>
            </a:r>
            <a:r>
              <a:rPr lang="en-US" dirty="0"/>
              <a:t> — a measure of </a:t>
            </a:r>
            <a:r>
              <a:rPr lang="en-US" i="1" dirty="0"/>
              <a:t>how well it will continue to do it</a:t>
            </a:r>
            <a:r>
              <a:rPr lang="en-US" dirty="0"/>
              <a:t> in the future</a:t>
            </a:r>
          </a:p>
        </p:txBody>
      </p:sp>
    </p:spTree>
    <p:extLst>
      <p:ext uri="{BB962C8B-B14F-4D97-AF65-F5344CB8AC3E}">
        <p14:creationId xmlns:p14="http://schemas.microsoft.com/office/powerpoint/2010/main" val="155379336"/>
      </p:ext>
    </p:extLst>
  </p:cSld>
  <p:clrMapOvr>
    <a:masterClrMapping/>
  </p:clrMapOvr>
  <mc:AlternateContent xmlns:mc="http://schemas.openxmlformats.org/markup-compatibility/2006" xmlns:p14="http://schemas.microsoft.com/office/powerpoint/2010/main">
    <mc:Choice Requires="p14">
      <p:transition spd="slow" p14:dur="2000" advTm="9530"/>
    </mc:Choice>
    <mc:Fallback xmlns="">
      <p:transition spd="slow" advTm="953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Types</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13</a:t>
            </a:fld>
            <a:endParaRPr lang="en-US"/>
          </a:p>
        </p:txBody>
      </p:sp>
      <p:sp>
        <p:nvSpPr>
          <p:cNvPr id="6" name="Content Placeholder 5"/>
          <p:cNvSpPr>
            <a:spLocks noGrp="1"/>
          </p:cNvSpPr>
          <p:nvPr>
            <p:ph sz="quarter" idx="1"/>
          </p:nvPr>
        </p:nvSpPr>
        <p:spPr/>
        <p:txBody>
          <a:bodyPr>
            <a:normAutofit lnSpcReduction="10000"/>
          </a:bodyPr>
          <a:lstStyle/>
          <a:p>
            <a:r>
              <a:rPr lang="en-US" dirty="0"/>
              <a:t>Process quality: Software processes implement best practices of software engineering in an organizational context. Process quality expresses the degree to which defined processes were followed and completed. </a:t>
            </a:r>
          </a:p>
          <a:p>
            <a:r>
              <a:rPr lang="en-US" dirty="0"/>
              <a:t>Product quality: Software products are the output of software processes. Product quality is determined by the degree to which the developed software meets the defined requirements. </a:t>
            </a:r>
          </a:p>
          <a:p>
            <a:r>
              <a:rPr lang="en-US" dirty="0"/>
              <a:t>Quality in use: Quality in use addresses the degree to which a product is fit for purpose when exposed to a particular context of use. </a:t>
            </a:r>
          </a:p>
        </p:txBody>
      </p:sp>
    </p:spTree>
    <p:extLst>
      <p:ext uri="{BB962C8B-B14F-4D97-AF65-F5344CB8AC3E}">
        <p14:creationId xmlns:p14="http://schemas.microsoft.com/office/powerpoint/2010/main" val="4006791427"/>
      </p:ext>
    </p:extLst>
  </p:cSld>
  <p:clrMapOvr>
    <a:masterClrMapping/>
  </p:clrMapOvr>
  <mc:AlternateContent xmlns:mc="http://schemas.openxmlformats.org/markup-compatibility/2006" xmlns:p14="http://schemas.microsoft.com/office/powerpoint/2010/main">
    <mc:Choice Requires="p14">
      <p:transition spd="slow" p14:dur="2000" advTm="9344"/>
    </mc:Choice>
    <mc:Fallback xmlns="">
      <p:transition spd="slow" advTm="934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Different Views of Quality</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14</a:t>
            </a:fld>
            <a:endParaRPr lang="en-US"/>
          </a:p>
        </p:txBody>
      </p:sp>
      <p:sp>
        <p:nvSpPr>
          <p:cNvPr id="6" name="Content Placeholder 5"/>
          <p:cNvSpPr>
            <a:spLocks noGrp="1"/>
          </p:cNvSpPr>
          <p:nvPr>
            <p:ph sz="quarter" idx="1"/>
          </p:nvPr>
        </p:nvSpPr>
        <p:spPr/>
        <p:txBody>
          <a:bodyPr/>
          <a:lstStyle/>
          <a:p>
            <a:r>
              <a:rPr lang="en-US" b="1" dirty="0"/>
              <a:t>Transcendental View</a:t>
            </a:r>
          </a:p>
          <a:p>
            <a:r>
              <a:rPr lang="en-US" b="1" dirty="0"/>
              <a:t>User View</a:t>
            </a:r>
          </a:p>
          <a:p>
            <a:r>
              <a:rPr lang="en-US" b="1" dirty="0"/>
              <a:t>Manufacturing View</a:t>
            </a:r>
          </a:p>
          <a:p>
            <a:r>
              <a:rPr lang="en-US" b="1" dirty="0"/>
              <a:t>Product View</a:t>
            </a:r>
          </a:p>
          <a:p>
            <a:r>
              <a:rPr lang="en-US" b="1" dirty="0"/>
              <a:t>Value based View</a:t>
            </a:r>
            <a:br>
              <a:rPr lang="en-US" dirty="0"/>
            </a:br>
            <a:br>
              <a:rPr lang="en-US" dirty="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524001"/>
            <a:ext cx="3724275" cy="458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8345627"/>
      </p:ext>
    </p:extLst>
  </p:cSld>
  <p:clrMapOvr>
    <a:masterClrMapping/>
  </p:clrMapOvr>
  <mc:AlternateContent xmlns:mc="http://schemas.openxmlformats.org/markup-compatibility/2006" xmlns:p14="http://schemas.microsoft.com/office/powerpoint/2010/main">
    <mc:Choice Requires="p14">
      <p:transition spd="slow" p14:dur="2000" advTm="4932"/>
    </mc:Choice>
    <mc:Fallback xmlns="">
      <p:transition spd="slow" advTm="493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Quality Models</a:t>
            </a:r>
          </a:p>
        </p:txBody>
      </p:sp>
      <p:sp>
        <p:nvSpPr>
          <p:cNvPr id="3" name="Date Placeholder 2"/>
          <p:cNvSpPr>
            <a:spLocks noGrp="1"/>
          </p:cNvSpPr>
          <p:nvPr>
            <p:ph type="dt" sz="half" idx="10"/>
          </p:nvPr>
        </p:nvSpPr>
        <p:spPr/>
        <p:txBody>
          <a:bodyPr/>
          <a:lstStyle/>
          <a:p>
            <a:fld id="{C78796AA-362C-4F50-8F18-037DCD92CE90}" type="datetime1">
              <a:rPr lang="en-US" smtClean="0"/>
              <a:t>17-Feb-26</a:t>
            </a:fld>
            <a:endParaRPr lang="en-US"/>
          </a:p>
        </p:txBody>
      </p:sp>
      <p:sp>
        <p:nvSpPr>
          <p:cNvPr id="5" name="Slide Number Placeholder 4"/>
          <p:cNvSpPr>
            <a:spLocks noGrp="1"/>
          </p:cNvSpPr>
          <p:nvPr>
            <p:ph type="sldNum" sz="quarter" idx="12"/>
          </p:nvPr>
        </p:nvSpPr>
        <p:spPr/>
        <p:txBody>
          <a:bodyPr/>
          <a:lstStyle/>
          <a:p>
            <a:fld id="{DAA5790D-B666-475A-A6BE-B57286F24B7C}" type="slidenum">
              <a:rPr lang="en-US" smtClean="0"/>
              <a:t>15</a:t>
            </a:fld>
            <a:endParaRPr lang="en-US"/>
          </a:p>
        </p:txBody>
      </p:sp>
      <p:sp>
        <p:nvSpPr>
          <p:cNvPr id="6" name="Content Placeholder 5"/>
          <p:cNvSpPr>
            <a:spLocks noGrp="1"/>
          </p:cNvSpPr>
          <p:nvPr>
            <p:ph sz="quarter" idx="1"/>
          </p:nvPr>
        </p:nvSpPr>
        <p:spPr/>
        <p:txBody>
          <a:bodyPr>
            <a:normAutofit/>
          </a:bodyPr>
          <a:lstStyle/>
          <a:p>
            <a:r>
              <a:rPr lang="en-US" b="1" dirty="0"/>
              <a:t>Standard quality models</a:t>
            </a:r>
            <a:endParaRPr lang="en-US" dirty="0"/>
          </a:p>
          <a:p>
            <a:pPr lvl="1"/>
            <a:r>
              <a:rPr lang="en-US" b="1" dirty="0"/>
              <a:t>McCall</a:t>
            </a:r>
          </a:p>
          <a:p>
            <a:pPr lvl="1"/>
            <a:r>
              <a:rPr lang="en-US" b="1" dirty="0"/>
              <a:t>ISO/IEC 9126</a:t>
            </a:r>
          </a:p>
          <a:p>
            <a:pPr lvl="1"/>
            <a:r>
              <a:rPr lang="en-US" b="1" dirty="0"/>
              <a:t>IEEE</a:t>
            </a:r>
          </a:p>
          <a:p>
            <a:r>
              <a:rPr lang="en-US" b="1" dirty="0"/>
              <a:t>Application or company specific quality models</a:t>
            </a:r>
            <a:endParaRPr lang="en-US" dirty="0"/>
          </a:p>
          <a:p>
            <a:pPr lvl="1"/>
            <a:r>
              <a:rPr lang="en-US" b="1" dirty="0"/>
              <a:t>FURPS</a:t>
            </a:r>
          </a:p>
          <a:p>
            <a:pPr lvl="1"/>
            <a:r>
              <a:rPr lang="en-US" b="1" dirty="0"/>
              <a:t>GQM Approach</a:t>
            </a: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3156992549"/>
      </p:ext>
    </p:extLst>
  </p:cSld>
  <p:clrMapOvr>
    <a:masterClrMapping/>
  </p:clrMapOvr>
  <mc:AlternateContent xmlns:mc="http://schemas.openxmlformats.org/markup-compatibility/2006" xmlns:p14="http://schemas.microsoft.com/office/powerpoint/2010/main">
    <mc:Choice Requires="p14">
      <p:transition spd="slow" p14:dur="2000" advTm="48655"/>
    </mc:Choice>
    <mc:Fallback xmlns="">
      <p:transition spd="slow" advTm="48655"/>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1948</TotalTime>
  <Words>696</Words>
  <Application>Microsoft Office PowerPoint</Application>
  <PresentationFormat>On-screen Show (4:3)</PresentationFormat>
  <Paragraphs>127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Franklin Gothic Book</vt:lpstr>
      <vt:lpstr>Monotype Sorts</vt:lpstr>
      <vt:lpstr>Perpetua</vt:lpstr>
      <vt:lpstr>Wingdings 2</vt:lpstr>
      <vt:lpstr>Equity</vt:lpstr>
      <vt:lpstr>SEN455 SOFTWARE QUALITY ASSURANCE</vt:lpstr>
      <vt:lpstr>Instructor Information</vt:lpstr>
      <vt:lpstr>Course Information</vt:lpstr>
      <vt:lpstr>Books and Resources</vt:lpstr>
      <vt:lpstr>Reference Books</vt:lpstr>
      <vt:lpstr>Links and Reference Material</vt:lpstr>
      <vt:lpstr>Grading Criteria</vt:lpstr>
      <vt:lpstr>Software Quality</vt:lpstr>
      <vt:lpstr>What is quality?</vt:lpstr>
      <vt:lpstr>Quality Engineering</vt:lpstr>
      <vt:lpstr>DEFINING QUALITY</vt:lpstr>
      <vt:lpstr>Quality Types</vt:lpstr>
      <vt:lpstr>Quality Types</vt:lpstr>
      <vt:lpstr>Different Views of Quality</vt:lpstr>
      <vt:lpstr>Quality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QUALITY ENGINEERING</dc:title>
  <dc:creator>Dr.Wasif</dc:creator>
  <cp:lastModifiedBy>Faheem Shaukat</cp:lastModifiedBy>
  <cp:revision>79</cp:revision>
  <dcterms:created xsi:type="dcterms:W3CDTF">2015-02-16T03:56:34Z</dcterms:created>
  <dcterms:modified xsi:type="dcterms:W3CDTF">2026-02-17T11:04:18Z</dcterms:modified>
</cp:coreProperties>
</file>